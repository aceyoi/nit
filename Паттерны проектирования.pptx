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webp" ContentType="image/webp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Замещающая дата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Замещающий 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Замещающий 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Замещающий 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ая дата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Замещающий 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webp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6111" y="2002790"/>
            <a:ext cx="9211733" cy="1082675"/>
          </a:xfrm>
        </p:spPr>
        <p:txBody>
          <a:bodyPr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en-US" sz="54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Паттерны</a:t>
            </a:r>
            <a:r>
              <a:rPr lang="en-US" altLang="ru-RU" sz="54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altLang="en-US" sz="54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проектирования</a:t>
            </a:r>
            <a:endParaRPr lang="en-US" altLang="en-US" sz="540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7863840" y="5899785"/>
            <a:ext cx="4328160" cy="1752600"/>
          </a:xfrm>
        </p:spPr>
        <p:txBody>
          <a:bodyPr/>
          <a:lstStyle/>
          <a:p>
            <a:r>
              <a:rPr lang="ru-RU" altLang="en-US" sz="2400"/>
              <a:t>Выполнил студент группы ИВТ-22 Богодухов А.А.</a:t>
            </a:r>
            <a:endParaRPr lang="ru-RU" alt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Что</a:t>
            </a:r>
            <a:r>
              <a:rPr lang="en-US" altLang="ru-RU"/>
              <a:t> </a:t>
            </a:r>
            <a:r>
              <a:rPr lang="en-US" altLang="en-US"/>
              <a:t>такое</a:t>
            </a:r>
            <a:r>
              <a:rPr lang="en-US" altLang="ru-RU"/>
              <a:t> </a:t>
            </a:r>
            <a:r>
              <a:rPr lang="en-US" altLang="en-US"/>
              <a:t>паттерны</a:t>
            </a:r>
            <a:r>
              <a:rPr lang="en-US" altLang="ru-RU"/>
              <a:t>?</a:t>
            </a:r>
            <a:endParaRPr lang="en-US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sz="half" idx="1"/>
          </p:nvPr>
        </p:nvSpPr>
        <p:spPr>
          <a:xfrm>
            <a:off x="838200" y="1183640"/>
            <a:ext cx="9621520" cy="1457960"/>
          </a:xfrm>
        </p:spPr>
        <p:txBody>
          <a:bodyPr/>
          <a:p>
            <a:pPr marL="0" indent="0" algn="just">
              <a:buNone/>
            </a:pPr>
            <a:r>
              <a:rPr lang="en-US" altLang="en-US"/>
              <a:t>Паттерн</a:t>
            </a:r>
            <a:r>
              <a:rPr lang="en-US" altLang="ru-RU"/>
              <a:t> </a:t>
            </a:r>
            <a:r>
              <a:rPr lang="en-US" altLang="en-US"/>
              <a:t>проектировани</a:t>
            </a:r>
            <a:r>
              <a:rPr lang="ru-RU" altLang="en-US"/>
              <a:t>я -</a:t>
            </a:r>
            <a:r>
              <a:rPr lang="en-US" altLang="ru-RU"/>
              <a:t> </a:t>
            </a:r>
            <a:r>
              <a:rPr lang="en-US" altLang="en-US"/>
              <a:t>типовое</a:t>
            </a:r>
            <a:r>
              <a:rPr lang="en-US" altLang="ru-RU"/>
              <a:t> </a:t>
            </a:r>
            <a:r>
              <a:rPr lang="en-US" altLang="en-US"/>
              <a:t>решение</a:t>
            </a:r>
            <a:r>
              <a:rPr lang="en-US" altLang="ru-RU"/>
              <a:t> </a:t>
            </a:r>
            <a:r>
              <a:rPr lang="en-US" altLang="en-US"/>
              <a:t>часто</a:t>
            </a:r>
            <a:r>
              <a:rPr lang="en-US" altLang="ru-RU"/>
              <a:t> </a:t>
            </a:r>
            <a:r>
              <a:rPr lang="en-US" altLang="en-US"/>
              <a:t>встречающихся</a:t>
            </a:r>
            <a:r>
              <a:rPr lang="en-US" altLang="ru-RU"/>
              <a:t> </a:t>
            </a:r>
            <a:r>
              <a:rPr lang="en-US" altLang="en-US"/>
              <a:t>задач</a:t>
            </a:r>
            <a:r>
              <a:rPr lang="en-US" altLang="ru-RU"/>
              <a:t> </a:t>
            </a:r>
            <a:r>
              <a:rPr lang="en-US" altLang="en-US"/>
              <a:t>при</a:t>
            </a:r>
            <a:r>
              <a:rPr lang="en-US" altLang="ru-RU"/>
              <a:t> </a:t>
            </a:r>
            <a:r>
              <a:rPr lang="en-US" altLang="en-US"/>
              <a:t>создании</a:t>
            </a:r>
            <a:r>
              <a:rPr lang="en-US" altLang="ru-RU"/>
              <a:t> </a:t>
            </a:r>
            <a:r>
              <a:rPr lang="en-US" altLang="en-US"/>
              <a:t>программного</a:t>
            </a:r>
            <a:r>
              <a:rPr lang="en-US" altLang="ru-RU"/>
              <a:t> </a:t>
            </a:r>
            <a:r>
              <a:rPr lang="en-US" altLang="en-US"/>
              <a:t>обеспечения</a:t>
            </a:r>
            <a:r>
              <a:rPr lang="en-US" altLang="ru-RU"/>
              <a:t>.</a:t>
            </a:r>
            <a:endParaRPr lang="en-US" altLang="ru-RU"/>
          </a:p>
        </p:txBody>
      </p:sp>
      <p:pic>
        <p:nvPicPr>
          <p:cNvPr id="4" name="Замещающее содержимое 3"/>
          <p:cNvPicPr/>
          <p:nvPr>
            <p:ph sz="half" idx="2"/>
          </p:nvPr>
        </p:nvPicPr>
        <p:blipFill>
          <a:blip r:embed="rId1"/>
          <a:srcRect t="4009" b="4009"/>
          <a:stretch>
            <a:fillRect/>
          </a:stretch>
        </p:blipFill>
        <p:spPr>
          <a:xfrm>
            <a:off x="1926590" y="3096260"/>
            <a:ext cx="8338820" cy="3233420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ru-RU"/>
              <a:t> </a:t>
            </a:r>
            <a:r>
              <a:rPr lang="en-US" altLang="en-US"/>
              <a:t>Виды</a:t>
            </a:r>
            <a:r>
              <a:rPr lang="en-US" altLang="ru-RU"/>
              <a:t> </a:t>
            </a:r>
            <a:r>
              <a:rPr lang="en-US" altLang="en-US"/>
              <a:t>паттернов</a:t>
            </a:r>
            <a:r>
              <a:rPr lang="en-US" altLang="ru-RU"/>
              <a:t> </a:t>
            </a:r>
            <a:endParaRPr lang="en-US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09600" y="1747520"/>
            <a:ext cx="10972800" cy="2299335"/>
          </a:xfrm>
        </p:spPr>
        <p:txBody>
          <a:bodyPr/>
          <a:p>
            <a:pPr algn="just"/>
            <a:r>
              <a:rPr lang="en-US" altLang="en-US"/>
              <a:t>Адаптер</a:t>
            </a:r>
            <a:r>
              <a:rPr lang="en-US" altLang="ru-RU"/>
              <a:t> (Adapter) </a:t>
            </a:r>
            <a:r>
              <a:rPr lang="en-US" altLang="ru-RU">
                <a:latin typeface="SimSun" panose="02010600030101010101" pitchFamily="2" charset="-122"/>
                <a:ea typeface="SimSun" panose="02010600030101010101" pitchFamily="2" charset="-122"/>
              </a:rPr>
              <a:t>－</a:t>
            </a:r>
            <a:r>
              <a:rPr lang="en-US" altLang="ru-RU"/>
              <a:t> </a:t>
            </a:r>
            <a:r>
              <a:rPr lang="en-US" altLang="en-US"/>
              <a:t>Структурный</a:t>
            </a:r>
            <a:r>
              <a:rPr lang="en-US" altLang="ru-RU"/>
              <a:t>.</a:t>
            </a:r>
            <a:endParaRPr lang="en-US" altLang="ru-RU"/>
          </a:p>
          <a:p>
            <a:pPr algn="just"/>
            <a:r>
              <a:rPr lang="en-US" altLang="en-US"/>
              <a:t>Цепочка</a:t>
            </a:r>
            <a:r>
              <a:rPr lang="en-US" altLang="ru-RU"/>
              <a:t> </a:t>
            </a:r>
            <a:r>
              <a:rPr lang="en-US" altLang="en-US"/>
              <a:t>обязанностей</a:t>
            </a:r>
            <a:r>
              <a:rPr lang="en-US" altLang="ru-RU"/>
              <a:t> (Chain of Responsibility) </a:t>
            </a:r>
            <a:r>
              <a:rPr lang="en-US" altLang="ru-RU">
                <a:latin typeface="SimSun" panose="02010600030101010101" pitchFamily="2" charset="-122"/>
                <a:ea typeface="SimSun" panose="02010600030101010101" pitchFamily="2" charset="-122"/>
                <a:sym typeface="+mn-ea"/>
              </a:rPr>
              <a:t>－</a:t>
            </a:r>
            <a:r>
              <a:rPr lang="en-US" altLang="ru-RU"/>
              <a:t> </a:t>
            </a:r>
            <a:r>
              <a:rPr lang="en-US" altLang="en-US"/>
              <a:t>Поведенческий</a:t>
            </a:r>
            <a:r>
              <a:rPr lang="en-US" altLang="ru-RU"/>
              <a:t>.</a:t>
            </a:r>
            <a:endParaRPr lang="en-US" altLang="ru-RU"/>
          </a:p>
          <a:p>
            <a:pPr algn="just"/>
            <a:r>
              <a:rPr lang="en-US" altLang="en-US"/>
              <a:t>Мост</a:t>
            </a:r>
            <a:r>
              <a:rPr lang="en-US" altLang="ru-RU"/>
              <a:t> (Bridge) </a:t>
            </a:r>
            <a:r>
              <a:rPr lang="en-US" altLang="ru-RU">
                <a:latin typeface="SimSun" panose="02010600030101010101" pitchFamily="2" charset="-122"/>
                <a:ea typeface="SimSun" panose="02010600030101010101" pitchFamily="2" charset="-122"/>
                <a:sym typeface="+mn-ea"/>
              </a:rPr>
              <a:t>－</a:t>
            </a:r>
            <a:r>
              <a:rPr lang="en-US" altLang="ru-RU"/>
              <a:t> </a:t>
            </a:r>
            <a:r>
              <a:rPr lang="en-US" altLang="en-US"/>
              <a:t>Структурный</a:t>
            </a:r>
            <a:r>
              <a:rPr lang="en-US" altLang="ru-RU"/>
              <a:t> .</a:t>
            </a:r>
            <a:endParaRPr lang="en-US" altLang="ru-RU"/>
          </a:p>
          <a:p>
            <a:pPr algn="just"/>
            <a:endParaRPr lang="en-US" altLang="ru-RU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1880" y="4323080"/>
            <a:ext cx="7508240" cy="22117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Что</a:t>
            </a:r>
            <a:r>
              <a:rPr lang="en-US" altLang="ru-RU"/>
              <a:t> </a:t>
            </a:r>
            <a:r>
              <a:rPr lang="en-US" altLang="en-US"/>
              <a:t>такое</a:t>
            </a:r>
            <a:r>
              <a:rPr lang="en-US" altLang="ru-RU"/>
              <a:t> </a:t>
            </a:r>
            <a:r>
              <a:rPr lang="en-US" altLang="en-US"/>
              <a:t>Адаптер</a:t>
            </a:r>
            <a:r>
              <a:rPr lang="en-US" altLang="ru-RU"/>
              <a:t>?</a:t>
            </a:r>
            <a:endParaRPr lang="en-US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09600" y="962660"/>
            <a:ext cx="10284460" cy="1475105"/>
          </a:xfrm>
        </p:spPr>
        <p:txBody>
          <a:bodyPr/>
          <a:p>
            <a:pPr marL="0" indent="0" algn="just">
              <a:buNone/>
            </a:pPr>
            <a:r>
              <a:rPr lang="en-US" altLang="en-US" sz="2400"/>
              <a:t>Адаптер</a:t>
            </a:r>
            <a:r>
              <a:rPr lang="en-US" altLang="ru-RU" sz="2400"/>
              <a:t> (Adapter) </a:t>
            </a:r>
            <a:r>
              <a:rPr lang="en-US" altLang="ru-RU" sz="2400">
                <a:latin typeface="SimSun" panose="02010600030101010101" pitchFamily="2" charset="-122"/>
                <a:ea typeface="SimSun" panose="02010600030101010101" pitchFamily="2" charset="-122"/>
                <a:sym typeface="+mn-ea"/>
              </a:rPr>
              <a:t>－</a:t>
            </a:r>
            <a:r>
              <a:rPr lang="en-US" altLang="ru-RU" sz="2400"/>
              <a:t> </a:t>
            </a:r>
            <a:r>
              <a:rPr lang="en-US" altLang="en-US" sz="2400"/>
              <a:t>это</a:t>
            </a:r>
            <a:r>
              <a:rPr lang="en-US" altLang="ru-RU" sz="2400"/>
              <a:t> </a:t>
            </a:r>
            <a:r>
              <a:rPr lang="en-US" altLang="en-US" sz="2400"/>
              <a:t>структурный</a:t>
            </a:r>
            <a:r>
              <a:rPr lang="en-US" altLang="ru-RU" sz="2400"/>
              <a:t> </a:t>
            </a:r>
            <a:r>
              <a:rPr lang="en-US" altLang="en-US" sz="2400"/>
              <a:t>паттерн</a:t>
            </a:r>
            <a:r>
              <a:rPr lang="en-US" altLang="ru-RU" sz="2400"/>
              <a:t> </a:t>
            </a:r>
            <a:r>
              <a:rPr lang="en-US" altLang="en-US" sz="2400"/>
              <a:t>проектирования</a:t>
            </a:r>
            <a:r>
              <a:rPr lang="en-US" altLang="ru-RU" sz="2400"/>
              <a:t>, </a:t>
            </a:r>
            <a:r>
              <a:rPr lang="en-US" altLang="en-US" sz="2400"/>
              <a:t>который</a:t>
            </a:r>
            <a:r>
              <a:rPr lang="en-US" altLang="ru-RU" sz="2400"/>
              <a:t> </a:t>
            </a:r>
            <a:r>
              <a:rPr lang="en-US" altLang="en-US" sz="2400"/>
              <a:t>позволяет</a:t>
            </a:r>
            <a:r>
              <a:rPr lang="en-US" altLang="ru-RU" sz="2400"/>
              <a:t> </a:t>
            </a:r>
            <a:r>
              <a:rPr lang="en-US" altLang="en-US" sz="2400"/>
              <a:t>объектам</a:t>
            </a:r>
            <a:r>
              <a:rPr lang="en-US" altLang="ru-RU" sz="2400"/>
              <a:t> </a:t>
            </a:r>
            <a:r>
              <a:rPr lang="en-US" altLang="en-US" sz="2400"/>
              <a:t>с</a:t>
            </a:r>
            <a:r>
              <a:rPr lang="en-US" altLang="ru-RU" sz="2400"/>
              <a:t> </a:t>
            </a:r>
            <a:r>
              <a:rPr lang="en-US" altLang="en-US" sz="2400"/>
              <a:t>несовместимыми</a:t>
            </a:r>
            <a:r>
              <a:rPr lang="en-US" altLang="ru-RU" sz="2400"/>
              <a:t> </a:t>
            </a:r>
            <a:r>
              <a:rPr lang="en-US" altLang="en-US" sz="2400"/>
              <a:t>интерфейсами</a:t>
            </a:r>
            <a:r>
              <a:rPr lang="en-US" altLang="ru-RU" sz="2400"/>
              <a:t> </a:t>
            </a:r>
            <a:r>
              <a:rPr lang="en-US" altLang="en-US" sz="2400"/>
              <a:t>работать</a:t>
            </a:r>
            <a:r>
              <a:rPr lang="en-US" altLang="ru-RU" sz="2400"/>
              <a:t> </a:t>
            </a:r>
            <a:r>
              <a:rPr lang="en-US" altLang="en-US" sz="2400"/>
              <a:t>вместе</a:t>
            </a:r>
            <a:r>
              <a:rPr lang="en-US" altLang="ru-RU" sz="2400"/>
              <a:t>.</a:t>
            </a:r>
            <a:endParaRPr lang="en-US" altLang="ru-RU" sz="2400"/>
          </a:p>
          <a:p>
            <a:pPr marL="0" indent="0" algn="just">
              <a:buNone/>
            </a:pPr>
            <a:r>
              <a:rPr lang="en-US" altLang="en-US" sz="2400">
                <a:sym typeface="+mn-ea"/>
              </a:rPr>
              <a:t>Ключевые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роли:</a:t>
            </a:r>
            <a:endParaRPr lang="en-US" altLang="en-US" sz="240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ru-RU" sz="2400">
                <a:sym typeface="+mn-ea"/>
              </a:rPr>
              <a:t>Target</a:t>
            </a:r>
            <a:r>
              <a:rPr lang="ru-RU" altLang="en-US" sz="2400">
                <a:sym typeface="+mn-ea"/>
              </a:rPr>
              <a:t> </a:t>
            </a:r>
            <a:r>
              <a:rPr lang="en-US" altLang="ru-RU" sz="2400">
                <a:latin typeface="SimSun" panose="02010600030101010101" pitchFamily="2" charset="-122"/>
                <a:ea typeface="SimSun" panose="02010600030101010101" pitchFamily="2" charset="-122"/>
                <a:sym typeface="+mn-ea"/>
              </a:rPr>
              <a:t>－</a:t>
            </a:r>
            <a:r>
              <a:rPr lang="ru-RU" altLang="en-US" sz="2400">
                <a:sym typeface="+mn-ea"/>
              </a:rPr>
              <a:t>и</a:t>
            </a:r>
            <a:r>
              <a:rPr lang="en-US" altLang="en-US" sz="2400">
                <a:sym typeface="+mn-ea"/>
              </a:rPr>
              <a:t>нтерфейс</a:t>
            </a:r>
            <a:r>
              <a:rPr lang="en-US" altLang="ru-RU" sz="2400">
                <a:sym typeface="+mn-ea"/>
              </a:rPr>
              <a:t>, </a:t>
            </a:r>
            <a:r>
              <a:rPr lang="en-US" altLang="en-US" sz="2400">
                <a:sym typeface="+mn-ea"/>
              </a:rPr>
              <a:t>который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ожидает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клиентская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часть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кода</a:t>
            </a:r>
            <a:r>
              <a:rPr lang="en-US" altLang="ru-RU" sz="2400">
                <a:sym typeface="+mn-ea"/>
              </a:rPr>
              <a:t>.</a:t>
            </a:r>
            <a:endParaRPr lang="en-US" altLang="ru-RU" sz="240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ru-RU" sz="2400">
                <a:sym typeface="+mn-ea"/>
              </a:rPr>
              <a:t>Adaptee</a:t>
            </a:r>
            <a:r>
              <a:rPr lang="en-US" altLang="ru-RU" sz="2400">
                <a:latin typeface="SimSun" panose="02010600030101010101" pitchFamily="2" charset="-122"/>
                <a:ea typeface="SimSun" panose="02010600030101010101" pitchFamily="2" charset="-122"/>
                <a:sym typeface="+mn-ea"/>
              </a:rPr>
              <a:t>－</a:t>
            </a:r>
            <a:r>
              <a:rPr lang="ru-RU" altLang="en-US" sz="2400">
                <a:sym typeface="+mn-ea"/>
              </a:rPr>
              <a:t>с</a:t>
            </a:r>
            <a:r>
              <a:rPr lang="en-US" altLang="en-US" sz="2400">
                <a:sym typeface="+mn-ea"/>
              </a:rPr>
              <a:t>уществующий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класс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с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несовместимым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интерфейсом</a:t>
            </a:r>
            <a:r>
              <a:rPr lang="en-US" altLang="ru-RU" sz="2400">
                <a:sym typeface="+mn-ea"/>
              </a:rPr>
              <a:t>.</a:t>
            </a:r>
            <a:endParaRPr lang="en-US" altLang="ru-RU" sz="240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ru-RU" sz="2400">
                <a:sym typeface="+mn-ea"/>
              </a:rPr>
              <a:t>Adapter </a:t>
            </a:r>
            <a:r>
              <a:rPr lang="en-US" altLang="ru-RU" sz="2400">
                <a:latin typeface="SimSun" panose="02010600030101010101" pitchFamily="2" charset="-122"/>
                <a:ea typeface="SimSun" panose="02010600030101010101" pitchFamily="2" charset="-122"/>
                <a:sym typeface="+mn-ea"/>
              </a:rPr>
              <a:t>－</a:t>
            </a:r>
            <a:r>
              <a:rPr lang="ru-RU" altLang="en-US" sz="2400">
                <a:sym typeface="+mn-ea"/>
              </a:rPr>
              <a:t>к</a:t>
            </a:r>
            <a:r>
              <a:rPr lang="en-US" altLang="en-US" sz="2400">
                <a:sym typeface="+mn-ea"/>
              </a:rPr>
              <a:t>ласс</a:t>
            </a:r>
            <a:r>
              <a:rPr lang="en-US" altLang="ru-RU" sz="2400">
                <a:sym typeface="+mn-ea"/>
              </a:rPr>
              <a:t>-</a:t>
            </a:r>
            <a:r>
              <a:rPr lang="en-US" altLang="en-US" sz="2400">
                <a:sym typeface="+mn-ea"/>
              </a:rPr>
              <a:t>обертка</a:t>
            </a:r>
            <a:r>
              <a:rPr lang="en-US" altLang="ru-RU" sz="2400">
                <a:sym typeface="+mn-ea"/>
              </a:rPr>
              <a:t>, </a:t>
            </a:r>
            <a:r>
              <a:rPr lang="en-US" altLang="en-US" sz="2400">
                <a:sym typeface="+mn-ea"/>
              </a:rPr>
              <a:t>который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транслирует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вызовы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из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одного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формата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в</a:t>
            </a:r>
            <a:r>
              <a:rPr lang="en-US" altLang="ru-RU" sz="2400">
                <a:sym typeface="+mn-ea"/>
              </a:rPr>
              <a:t> </a:t>
            </a:r>
            <a:r>
              <a:rPr lang="en-US" altLang="en-US" sz="2400">
                <a:sym typeface="+mn-ea"/>
              </a:rPr>
              <a:t>другой</a:t>
            </a:r>
            <a:r>
              <a:rPr lang="en-US" altLang="ru-RU" sz="2400">
                <a:sym typeface="+mn-ea"/>
              </a:rPr>
              <a:t>.</a:t>
            </a:r>
            <a:endParaRPr lang="en-US" altLang="ru-RU" sz="2400">
              <a:sym typeface="+mn-ea"/>
            </a:endParaRPr>
          </a:p>
          <a:p>
            <a:pPr marL="0" indent="0">
              <a:buNone/>
            </a:pPr>
            <a:endParaRPr lang="en-US" altLang="ru-RU" sz="2400"/>
          </a:p>
          <a:p>
            <a:pPr marL="0" indent="0">
              <a:buNone/>
            </a:pPr>
            <a:endParaRPr lang="en-US" altLang="ru-RU" sz="2400"/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1015" y="4217035"/>
            <a:ext cx="6109335" cy="25387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Когда</a:t>
            </a:r>
            <a:r>
              <a:rPr lang="en-US" altLang="ru-RU"/>
              <a:t> </a:t>
            </a:r>
            <a:r>
              <a:rPr lang="en-US" altLang="en-US"/>
              <a:t>использовать?</a:t>
            </a:r>
            <a:endParaRPr lang="en-US" altLang="en-US"/>
          </a:p>
        </p:txBody>
      </p:sp>
      <p:pic>
        <p:nvPicPr>
          <p:cNvPr id="5" name="Изображение 4"/>
          <p:cNvPicPr/>
          <p:nvPr/>
        </p:nvPicPr>
        <p:blipFill>
          <a:blip/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</p:spPr>
      </p:pic>
      <p:sp>
        <p:nvSpPr>
          <p:cNvPr id="12" name="Замещающее содержимое 11"/>
          <p:cNvSpPr/>
          <p:nvPr>
            <p:ph idx="1"/>
          </p:nvPr>
        </p:nvSpPr>
        <p:spPr>
          <a:xfrm>
            <a:off x="609600" y="2042160"/>
            <a:ext cx="10972800" cy="2773045"/>
          </a:xfrm>
        </p:spPr>
        <p:txBody>
          <a:bodyPr/>
          <a:p>
            <a:pPr algn="just"/>
            <a:r>
              <a:rPr lang="en-US" altLang="en-US"/>
              <a:t>Нужно</a:t>
            </a:r>
            <a:r>
              <a:rPr lang="en-US" altLang="ru-RU"/>
              <a:t> </a:t>
            </a:r>
            <a:r>
              <a:rPr lang="en-US" altLang="en-US"/>
              <a:t>использовать</a:t>
            </a:r>
            <a:r>
              <a:rPr lang="en-US" altLang="ru-RU"/>
              <a:t> </a:t>
            </a:r>
            <a:r>
              <a:rPr lang="en-US" altLang="en-US"/>
              <a:t>стороннюю</a:t>
            </a:r>
            <a:r>
              <a:rPr lang="en-US" altLang="ru-RU"/>
              <a:t> </a:t>
            </a:r>
            <a:r>
              <a:rPr lang="en-US" altLang="en-US"/>
              <a:t>библиотеку</a:t>
            </a:r>
            <a:r>
              <a:rPr lang="en-US" altLang="ru-RU"/>
              <a:t>, </a:t>
            </a:r>
            <a:r>
              <a:rPr lang="en-US" altLang="en-US"/>
              <a:t>но</a:t>
            </a:r>
            <a:r>
              <a:rPr lang="en-US" altLang="ru-RU"/>
              <a:t> </a:t>
            </a:r>
            <a:r>
              <a:rPr lang="en-US" altLang="en-US"/>
              <a:t>её</a:t>
            </a:r>
            <a:r>
              <a:rPr lang="en-US" altLang="ru-RU"/>
              <a:t> </a:t>
            </a:r>
            <a:r>
              <a:rPr lang="en-US" altLang="en-US"/>
              <a:t>интерфейс</a:t>
            </a:r>
            <a:r>
              <a:rPr lang="en-US" altLang="ru-RU"/>
              <a:t> </a:t>
            </a:r>
            <a:r>
              <a:rPr lang="en-US" altLang="en-US"/>
              <a:t>не</a:t>
            </a:r>
            <a:r>
              <a:rPr lang="en-US" altLang="ru-RU"/>
              <a:t> </a:t>
            </a:r>
            <a:r>
              <a:rPr lang="en-US" altLang="en-US"/>
              <a:t>совпадает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вашим</a:t>
            </a:r>
            <a:r>
              <a:rPr lang="en-US" altLang="ru-RU"/>
              <a:t> </a:t>
            </a:r>
            <a:r>
              <a:rPr lang="en-US" altLang="en-US"/>
              <a:t>кодом</a:t>
            </a:r>
            <a:r>
              <a:rPr lang="en-US" altLang="ru-RU"/>
              <a:t>.</a:t>
            </a:r>
            <a:endParaRPr lang="en-US" altLang="ru-RU"/>
          </a:p>
          <a:p>
            <a:pPr algn="just"/>
            <a:r>
              <a:rPr lang="en-US" altLang="en-US"/>
              <a:t>Нужно</a:t>
            </a:r>
            <a:r>
              <a:rPr lang="en-US" altLang="ru-RU"/>
              <a:t> </a:t>
            </a:r>
            <a:r>
              <a:rPr lang="en-US" altLang="en-US"/>
              <a:t>связать</a:t>
            </a:r>
            <a:r>
              <a:rPr lang="en-US" altLang="ru-RU"/>
              <a:t> </a:t>
            </a:r>
            <a:r>
              <a:rPr lang="en-US" altLang="en-US"/>
              <a:t>старый</a:t>
            </a:r>
            <a:r>
              <a:rPr lang="en-US" altLang="ru-RU"/>
              <a:t> </a:t>
            </a:r>
            <a:r>
              <a:rPr lang="en-US" altLang="en-US"/>
              <a:t>код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новым</a:t>
            </a:r>
            <a:r>
              <a:rPr lang="en-US" altLang="ru-RU"/>
              <a:t>.</a:t>
            </a:r>
            <a:endParaRPr lang="en-US" altLang="ru-RU"/>
          </a:p>
          <a:p>
            <a:pPr algn="just"/>
            <a:r>
              <a:rPr lang="en-US" altLang="en-US"/>
              <a:t>Нужно</a:t>
            </a:r>
            <a:r>
              <a:rPr lang="en-US" altLang="ru-RU"/>
              <a:t> </a:t>
            </a:r>
            <a:r>
              <a:rPr lang="en-US" altLang="en-US"/>
              <a:t>привести</a:t>
            </a:r>
            <a:r>
              <a:rPr lang="en-US" altLang="ru-RU"/>
              <a:t> </a:t>
            </a:r>
            <a:r>
              <a:rPr lang="en-US" altLang="en-US"/>
              <a:t>несколько</a:t>
            </a:r>
            <a:r>
              <a:rPr lang="en-US" altLang="ru-RU"/>
              <a:t> </a:t>
            </a:r>
            <a:r>
              <a:rPr lang="en-US" altLang="en-US"/>
              <a:t>разных</a:t>
            </a:r>
            <a:r>
              <a:rPr lang="en-US" altLang="ru-RU"/>
              <a:t> </a:t>
            </a:r>
            <a:r>
              <a:rPr lang="en-US" altLang="en-US"/>
              <a:t>классов</a:t>
            </a:r>
            <a:r>
              <a:rPr lang="en-US" altLang="ru-RU"/>
              <a:t> </a:t>
            </a:r>
            <a:r>
              <a:rPr lang="en-US" altLang="en-US"/>
              <a:t>к</a:t>
            </a:r>
            <a:r>
              <a:rPr lang="en-US" altLang="ru-RU"/>
              <a:t> </a:t>
            </a:r>
            <a:r>
              <a:rPr lang="en-US" altLang="en-US"/>
              <a:t>единому</a:t>
            </a:r>
            <a:r>
              <a:rPr lang="en-US" altLang="ru-RU"/>
              <a:t> </a:t>
            </a:r>
            <a:r>
              <a:rPr lang="en-US" altLang="en-US"/>
              <a:t>виду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Реализация</a:t>
            </a:r>
            <a:r>
              <a:rPr lang="en-US" altLang="ru-RU"/>
              <a:t> </a:t>
            </a:r>
            <a:r>
              <a:rPr lang="ru-RU" altLang="en-US"/>
              <a:t>а</a:t>
            </a:r>
            <a:r>
              <a:rPr lang="en-US" altLang="en-US"/>
              <a:t>даптер</a:t>
            </a:r>
            <a:r>
              <a:rPr lang="ru-RU" altLang="en-US"/>
              <a:t>а</a:t>
            </a:r>
            <a:endParaRPr lang="ru-RU" altLang="en-US"/>
          </a:p>
        </p:txBody>
      </p:sp>
      <p:pic>
        <p:nvPicPr>
          <p:cNvPr id="8" name="Изображение 7"/>
          <p:cNvPicPr/>
          <p:nvPr/>
        </p:nvPicPr>
        <p:blipFill>
          <a:blip r:embed="rId1"/>
          <a:stretch>
            <a:fillRect/>
          </a:stretch>
        </p:blipFill>
        <p:spPr>
          <a:xfrm>
            <a:off x="5963285" y="1651635"/>
            <a:ext cx="6050915" cy="3554095"/>
          </a:xfrm>
          <a:prstGeom prst="rect">
            <a:avLst/>
          </a:prstGeom>
        </p:spPr>
      </p:pic>
      <p:pic>
        <p:nvPicPr>
          <p:cNvPr id="11" name="Изображение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5" y="772795"/>
            <a:ext cx="5115560" cy="5930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Плюсы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минусы</a:t>
            </a:r>
            <a:endParaRPr lang="en-US" altLang="en-US"/>
          </a:p>
        </p:txBody>
      </p:sp>
      <p:sp>
        <p:nvSpPr>
          <p:cNvPr id="5" name="Скругленный прямоугольник 4"/>
          <p:cNvSpPr/>
          <p:nvPr>
            <p:custDataLst>
              <p:tags r:id="rId1"/>
            </p:custDataLst>
          </p:nvPr>
        </p:nvSpPr>
        <p:spPr>
          <a:xfrm>
            <a:off x="609600" y="1650365"/>
            <a:ext cx="5167630" cy="4070985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77800" dist="101600" dir="16320000" algn="l" rotWithShape="0">
              <a:srgbClr val="92D050">
                <a:alpha val="40000"/>
              </a:srgbClr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ru-RU" sz="900" b="0" i="0" u="none" strike="noStrike" cap="none" normalizeH="0" baseline="0" smtClean="0">
              <a:ln>
                <a:solidFill>
                  <a:schemeClr val="tx1"/>
                </a:solidFill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ru-RU" sz="900" b="0" i="0" u="none" strike="noStrike" cap="none" normalizeH="0" baseline="0" smtClean="0">
              <a:ln>
                <a:solidFill>
                  <a:schemeClr val="tx1"/>
                </a:solidFill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900" b="0" i="0" u="none" strike="noStrike" cap="none" normalizeH="0" baseline="0" smtClean="0">
              <a:ln>
                <a:solidFill>
                  <a:schemeClr val="tx1"/>
                </a:solidFill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" name="Скругленный прямоугольник 5"/>
          <p:cNvSpPr/>
          <p:nvPr>
            <p:custDataLst>
              <p:tags r:id="rId2"/>
            </p:custDataLst>
          </p:nvPr>
        </p:nvSpPr>
        <p:spPr>
          <a:xfrm>
            <a:off x="6414770" y="1650365"/>
            <a:ext cx="5167630" cy="4070985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77800" dist="101600" dir="16320000" algn="l" rotWithShape="0">
              <a:srgbClr val="FF3300">
                <a:alpha val="40000"/>
              </a:srgbClr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solidFill>
                  <a:schemeClr val="tx1"/>
                </a:solidFill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" name="Текстовое поле 6"/>
          <p:cNvSpPr txBox="1"/>
          <p:nvPr>
            <p:custDataLst>
              <p:tags r:id="rId3"/>
            </p:custDataLst>
          </p:nvPr>
        </p:nvSpPr>
        <p:spPr>
          <a:xfrm>
            <a:off x="609600" y="2696210"/>
            <a:ext cx="4961255" cy="240474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 algn="just" fontAlgn="base">
              <a:spcBef>
                <a:spcPct val="20000"/>
              </a:spcBef>
              <a:buClrTx/>
              <a:buSzTx/>
              <a:buFontTx/>
              <a:buChar char="•"/>
            </a:pPr>
            <a:r>
              <a:rPr lang="en-US" altLang="en-US" sz="1600" b="1" i="0"/>
              <a:t>Принцип единственной ответственности</a:t>
            </a:r>
            <a:r>
              <a:rPr lang="en-US" altLang="en-US" sz="1600" b="0" i="0"/>
              <a:t>. Код преобразования данных отделен от основной бизнес-логики.</a:t>
            </a:r>
            <a:endParaRPr lang="en-US" altLang="en-US" sz="1600" b="0" i="0"/>
          </a:p>
          <a:p>
            <a:pPr marL="342900" indent="-342900" algn="just" fontAlgn="base">
              <a:spcBef>
                <a:spcPct val="20000"/>
              </a:spcBef>
              <a:buClrTx/>
              <a:buSzTx/>
              <a:buFontTx/>
              <a:buChar char="•"/>
            </a:pPr>
            <a:r>
              <a:rPr lang="en-US" altLang="en-US" sz="1600" b="1" i="0"/>
              <a:t>Принцип открытости/закрытости.</a:t>
            </a:r>
            <a:r>
              <a:rPr lang="en-US" altLang="en-US" sz="1600" b="0" i="0"/>
              <a:t> Можно добавлять новые адаптеры для новых библиотек, не ломая старый код.</a:t>
            </a:r>
            <a:endParaRPr lang="en-US" altLang="en-US" sz="1600" b="0" i="0"/>
          </a:p>
          <a:p>
            <a:pPr marL="342900" indent="-342900" algn="just" fontAlgn="base">
              <a:spcBef>
                <a:spcPct val="20000"/>
              </a:spcBef>
              <a:buClrTx/>
              <a:buSzTx/>
              <a:buFontTx/>
              <a:buChar char="•"/>
            </a:pPr>
            <a:r>
              <a:rPr lang="en-US" altLang="en-US" sz="1600" b="1" i="0"/>
              <a:t>Повторное использование</a:t>
            </a:r>
            <a:r>
              <a:rPr lang="en-US" altLang="en-US" sz="1600" b="0" i="0"/>
              <a:t>. Позволяет интегрировать legacy-классы в современные системы.</a:t>
            </a:r>
            <a:endParaRPr lang="en-US" altLang="en-US" sz="1600" b="0" i="0"/>
          </a:p>
        </p:txBody>
      </p:sp>
      <p:sp>
        <p:nvSpPr>
          <p:cNvPr id="8" name="Текстовое поле 7"/>
          <p:cNvSpPr txBox="1"/>
          <p:nvPr>
            <p:custDataLst>
              <p:tags r:id="rId4"/>
            </p:custDataLst>
          </p:nvPr>
        </p:nvSpPr>
        <p:spPr>
          <a:xfrm>
            <a:off x="2274570" y="1715770"/>
            <a:ext cx="18376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2800">
                <a:sym typeface="+mn-ea"/>
              </a:rPr>
              <a:t>Плюсы</a:t>
            </a:r>
            <a:r>
              <a:rPr lang="en-US" altLang="ru-RU" sz="2800">
                <a:sym typeface="+mn-ea"/>
              </a:rPr>
              <a:t> </a:t>
            </a:r>
            <a:endParaRPr lang="en-US" altLang="ru-RU" sz="2800">
              <a:sym typeface="+mn-ea"/>
            </a:endParaRPr>
          </a:p>
        </p:txBody>
      </p:sp>
      <p:sp>
        <p:nvSpPr>
          <p:cNvPr id="10" name="Текстовое поле 9"/>
          <p:cNvSpPr txBox="1"/>
          <p:nvPr>
            <p:custDataLst>
              <p:tags r:id="rId5"/>
            </p:custDataLst>
          </p:nvPr>
        </p:nvSpPr>
        <p:spPr>
          <a:xfrm>
            <a:off x="6414770" y="2696210"/>
            <a:ext cx="5080000" cy="2404745"/>
          </a:xfrm>
          <a:prstGeom prst="rect">
            <a:avLst/>
          </a:prstGeom>
        </p:spPr>
        <p:txBody>
          <a:bodyPr>
            <a:spAutoFit/>
          </a:bodyPr>
          <a:p>
            <a:pPr marL="342900" indent="-342900" algn="just" fontAlgn="base">
              <a:spcBef>
                <a:spcPct val="20000"/>
              </a:spcBef>
              <a:buClrTx/>
              <a:buSzTx/>
              <a:buFontTx/>
              <a:buChar char="•"/>
            </a:pPr>
            <a:r>
              <a:rPr lang="en-US" altLang="en-US" sz="1600" b="1" i="0"/>
              <a:t>Усложнение архитектуры</a:t>
            </a:r>
            <a:r>
              <a:rPr lang="en-US" altLang="en-US" sz="1600" i="0"/>
              <a:t>. Введение дополнительных классов и интерфейсов может перегрузить простой код.</a:t>
            </a:r>
            <a:endParaRPr lang="en-US" altLang="en-US" sz="1600" i="0"/>
          </a:p>
          <a:p>
            <a:pPr marL="342900" indent="-342900" algn="just" fontAlgn="base">
              <a:spcBef>
                <a:spcPct val="20000"/>
              </a:spcBef>
              <a:buClrTx/>
              <a:buSzTx/>
              <a:buFontTx/>
              <a:buChar char="•"/>
            </a:pPr>
            <a:r>
              <a:rPr lang="en-US" altLang="en-US" sz="1600" b="1" i="0"/>
              <a:t>Избыточность. </a:t>
            </a:r>
            <a:r>
              <a:rPr lang="en-US" altLang="en-US" sz="1600" i="0"/>
              <a:t>Если есть доступ к исходному коду класса, иногда проще изменить его напрямую, чем писать обертку.</a:t>
            </a:r>
            <a:endParaRPr lang="en-US" altLang="en-US" sz="1600" i="0"/>
          </a:p>
          <a:p>
            <a:pPr marL="342900" indent="-342900" algn="just" fontAlgn="base">
              <a:spcBef>
                <a:spcPct val="20000"/>
              </a:spcBef>
              <a:buClrTx/>
              <a:buSzTx/>
              <a:buFontTx/>
              <a:buChar char="•"/>
            </a:pPr>
            <a:r>
              <a:rPr lang="en-US" altLang="en-US" sz="1600" b="1" i="0"/>
              <a:t>Цепочки адаптеров</a:t>
            </a:r>
            <a:r>
              <a:rPr lang="en-US" altLang="en-US" sz="1600" i="0"/>
              <a:t>. Риск создания запутанной системы, где адаптер вызывает другой адаптер.</a:t>
            </a:r>
            <a:endParaRPr lang="en-US" altLang="en-US" sz="1600" i="0"/>
          </a:p>
        </p:txBody>
      </p:sp>
      <p:sp>
        <p:nvSpPr>
          <p:cNvPr id="11" name="Текстовое поле 10"/>
          <p:cNvSpPr txBox="1"/>
          <p:nvPr>
            <p:custDataLst>
              <p:tags r:id="rId6"/>
            </p:custDataLst>
          </p:nvPr>
        </p:nvSpPr>
        <p:spPr>
          <a:xfrm>
            <a:off x="8035925" y="1715770"/>
            <a:ext cx="18376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altLang="en-US" sz="2800">
                <a:sym typeface="+mn-ea"/>
              </a:rPr>
              <a:t>М</a:t>
            </a:r>
            <a:r>
              <a:rPr lang="en-US" altLang="en-US" sz="2800">
                <a:sym typeface="+mn-ea"/>
              </a:rPr>
              <a:t>инусы</a:t>
            </a:r>
            <a:endParaRPr lang="en-US" altLang="ru-RU" sz="2800" b="1"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>
                <a:sym typeface="+mn-ea"/>
              </a:rPr>
              <a:t>Что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такое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Цепочка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обязанностей</a:t>
            </a:r>
            <a:r>
              <a:rPr lang="en-US" altLang="ru-RU">
                <a:sym typeface="+mn-ea"/>
              </a:rPr>
              <a:t>?</a:t>
            </a:r>
            <a:endParaRPr lang="en-US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09600" y="1343660"/>
            <a:ext cx="10972800" cy="2679700"/>
          </a:xfrm>
        </p:spPr>
        <p:txBody>
          <a:bodyPr/>
          <a:p>
            <a:pPr marL="0" indent="0" algn="just">
              <a:buNone/>
            </a:pPr>
            <a:r>
              <a:rPr lang="en-US" altLang="en-US"/>
              <a:t>Это</a:t>
            </a:r>
            <a:r>
              <a:rPr lang="en-US" altLang="ru-RU"/>
              <a:t> </a:t>
            </a:r>
            <a:r>
              <a:rPr lang="en-US" altLang="en-US"/>
              <a:t>паттерн</a:t>
            </a:r>
            <a:r>
              <a:rPr lang="en-US" altLang="ru-RU"/>
              <a:t>, </a:t>
            </a:r>
            <a:r>
              <a:rPr lang="en-US" altLang="en-US"/>
              <a:t>который</a:t>
            </a:r>
            <a:r>
              <a:rPr lang="en-US" altLang="ru-RU"/>
              <a:t> </a:t>
            </a:r>
            <a:r>
              <a:rPr lang="en-US" altLang="en-US"/>
              <a:t>позволяет</a:t>
            </a:r>
            <a:r>
              <a:rPr lang="en-US" altLang="ru-RU"/>
              <a:t> </a:t>
            </a:r>
            <a:r>
              <a:rPr lang="en-US" altLang="en-US"/>
              <a:t>передавать</a:t>
            </a:r>
            <a:r>
              <a:rPr lang="en-US" altLang="ru-RU"/>
              <a:t> </a:t>
            </a:r>
            <a:r>
              <a:rPr lang="en-US" altLang="en-US"/>
              <a:t>запросы</a:t>
            </a:r>
            <a:r>
              <a:rPr lang="en-US" altLang="ru-RU"/>
              <a:t> </a:t>
            </a:r>
            <a:r>
              <a:rPr lang="en-US" altLang="en-US"/>
              <a:t>последовательно</a:t>
            </a:r>
            <a:r>
              <a:rPr lang="en-US" altLang="ru-RU"/>
              <a:t>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цепочке</a:t>
            </a:r>
            <a:r>
              <a:rPr lang="en-US" altLang="ru-RU"/>
              <a:t> </a:t>
            </a:r>
            <a:r>
              <a:rPr lang="en-US" altLang="en-US"/>
              <a:t>обработчиков</a:t>
            </a:r>
            <a:r>
              <a:rPr lang="en-US" altLang="ru-RU"/>
              <a:t>. </a:t>
            </a:r>
            <a:r>
              <a:rPr lang="en-US" altLang="en-US"/>
              <a:t>Каждый</a:t>
            </a:r>
            <a:r>
              <a:rPr lang="en-US" altLang="ru-RU"/>
              <a:t> </a:t>
            </a:r>
            <a:r>
              <a:rPr lang="en-US" altLang="en-US"/>
              <a:t>последующий</a:t>
            </a:r>
            <a:r>
              <a:rPr lang="en-US" altLang="ru-RU"/>
              <a:t> </a:t>
            </a:r>
            <a:r>
              <a:rPr lang="en-US" altLang="en-US"/>
              <a:t>обработчик</a:t>
            </a:r>
            <a:r>
              <a:rPr lang="en-US" altLang="ru-RU"/>
              <a:t> </a:t>
            </a:r>
            <a:r>
              <a:rPr lang="en-US" altLang="en-US"/>
              <a:t>решает</a:t>
            </a:r>
            <a:r>
              <a:rPr lang="en-US" altLang="ru-RU"/>
              <a:t>, </a:t>
            </a:r>
            <a:r>
              <a:rPr lang="en-US" altLang="en-US"/>
              <a:t>может</a:t>
            </a:r>
            <a:r>
              <a:rPr lang="en-US" altLang="ru-RU"/>
              <a:t> </a:t>
            </a:r>
            <a:r>
              <a:rPr lang="en-US" altLang="en-US"/>
              <a:t>ли</a:t>
            </a:r>
            <a:r>
              <a:rPr lang="en-US" altLang="ru-RU"/>
              <a:t> </a:t>
            </a:r>
            <a:r>
              <a:rPr lang="en-US" altLang="en-US"/>
              <a:t>он</a:t>
            </a:r>
            <a:r>
              <a:rPr lang="en-US" altLang="ru-RU"/>
              <a:t> </a:t>
            </a:r>
            <a:r>
              <a:rPr lang="en-US" altLang="en-US"/>
              <a:t>обработать</a:t>
            </a:r>
            <a:r>
              <a:rPr lang="en-US" altLang="ru-RU"/>
              <a:t> </a:t>
            </a:r>
            <a:r>
              <a:rPr lang="en-US" altLang="en-US"/>
              <a:t>запрос</a:t>
            </a:r>
            <a:r>
              <a:rPr lang="en-US" altLang="ru-RU"/>
              <a:t> </a:t>
            </a:r>
            <a:r>
              <a:rPr lang="en-US" altLang="en-US"/>
              <a:t>сам</a:t>
            </a:r>
            <a:r>
              <a:rPr lang="en-US" altLang="ru-RU"/>
              <a:t> </a:t>
            </a:r>
            <a:r>
              <a:rPr lang="en-US" altLang="en-US"/>
              <a:t>или</a:t>
            </a:r>
            <a:r>
              <a:rPr lang="en-US" altLang="ru-RU"/>
              <a:t> </a:t>
            </a:r>
            <a:r>
              <a:rPr lang="en-US" altLang="en-US"/>
              <a:t>его</a:t>
            </a:r>
            <a:r>
              <a:rPr lang="en-US" altLang="ru-RU"/>
              <a:t> </a:t>
            </a:r>
            <a:r>
              <a:rPr lang="en-US" altLang="en-US"/>
              <a:t>нужно</a:t>
            </a:r>
            <a:r>
              <a:rPr lang="en-US" altLang="ru-RU"/>
              <a:t> </a:t>
            </a:r>
            <a:r>
              <a:rPr lang="en-US" altLang="en-US"/>
              <a:t>передать</a:t>
            </a:r>
            <a:r>
              <a:rPr lang="en-US" altLang="ru-RU"/>
              <a:t> </a:t>
            </a:r>
            <a:r>
              <a:rPr lang="en-US" altLang="en-US"/>
              <a:t>дальше</a:t>
            </a:r>
            <a:r>
              <a:rPr lang="en-US" altLang="ru-RU"/>
              <a:t>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цепи</a:t>
            </a:r>
            <a:r>
              <a:rPr lang="en-US" altLang="ru-RU"/>
              <a:t>.</a:t>
            </a:r>
            <a:endParaRPr lang="en-US" altLang="ru-RU"/>
          </a:p>
        </p:txBody>
      </p:sp>
      <p:pic>
        <p:nvPicPr>
          <p:cNvPr id="5" name="Изображение 4"/>
          <p:cNvPicPr/>
          <p:nvPr/>
        </p:nvPicPr>
        <p:blipFill>
          <a:blip/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</p:spPr>
      </p:pic>
      <p:pic>
        <p:nvPicPr>
          <p:cNvPr id="6" name="Изображение 5"/>
          <p:cNvPicPr/>
          <p:nvPr/>
        </p:nvPicPr>
        <p:blipFill>
          <a:blip r:embed="rId1"/>
          <a:stretch>
            <a:fillRect/>
          </a:stretch>
        </p:blipFill>
        <p:spPr>
          <a:xfrm>
            <a:off x="272415" y="4023360"/>
            <a:ext cx="11647170" cy="2621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Когда</a:t>
            </a:r>
            <a:r>
              <a:rPr lang="en-US" altLang="ru-RU"/>
              <a:t> </a:t>
            </a:r>
            <a:r>
              <a:rPr lang="en-US" altLang="en-US"/>
              <a:t>использовать</a:t>
            </a:r>
            <a:r>
              <a:rPr lang="en-US" altLang="ru-RU"/>
              <a:t>?</a:t>
            </a:r>
            <a:endParaRPr lang="en-US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421005" y="1353185"/>
            <a:ext cx="10972800" cy="4953000"/>
          </a:xfrm>
        </p:spPr>
        <p:txBody>
          <a:bodyPr/>
          <a:p>
            <a:pPr algn="just"/>
            <a:r>
              <a:rPr lang="en-US" altLang="en-US"/>
              <a:t>Неизвестен</a:t>
            </a:r>
            <a:r>
              <a:rPr lang="en-US" altLang="ru-RU"/>
              <a:t> </a:t>
            </a:r>
            <a:r>
              <a:rPr lang="en-US" altLang="en-US"/>
              <a:t>точный</a:t>
            </a:r>
            <a:r>
              <a:rPr lang="en-US" altLang="ru-RU"/>
              <a:t> </a:t>
            </a:r>
            <a:r>
              <a:rPr lang="en-US" altLang="en-US"/>
              <a:t>обработчик</a:t>
            </a:r>
            <a:r>
              <a:rPr lang="en-US" altLang="ru-RU"/>
              <a:t>: </a:t>
            </a:r>
            <a:r>
              <a:rPr lang="en-US" altLang="en-US"/>
              <a:t>программа</a:t>
            </a:r>
            <a:r>
              <a:rPr lang="en-US" altLang="ru-RU"/>
              <a:t> </a:t>
            </a:r>
            <a:r>
              <a:rPr lang="en-US" altLang="en-US"/>
              <a:t>должна</a:t>
            </a:r>
            <a:r>
              <a:rPr lang="en-US" altLang="ru-RU"/>
              <a:t> </a:t>
            </a:r>
            <a:r>
              <a:rPr lang="en-US" altLang="en-US"/>
              <a:t>обрабатывать</a:t>
            </a:r>
            <a:r>
              <a:rPr lang="en-US" altLang="ru-RU"/>
              <a:t> </a:t>
            </a:r>
            <a:r>
              <a:rPr lang="en-US" altLang="en-US"/>
              <a:t>разные</a:t>
            </a:r>
            <a:r>
              <a:rPr lang="en-US" altLang="ru-RU"/>
              <a:t> </a:t>
            </a:r>
            <a:r>
              <a:rPr lang="en-US" altLang="en-US"/>
              <a:t>виды</a:t>
            </a:r>
            <a:r>
              <a:rPr lang="en-US" altLang="ru-RU"/>
              <a:t> </a:t>
            </a:r>
            <a:r>
              <a:rPr lang="en-US" altLang="en-US"/>
              <a:t>запросов</a:t>
            </a:r>
            <a:r>
              <a:rPr lang="en-US" altLang="ru-RU"/>
              <a:t> </a:t>
            </a:r>
            <a:r>
              <a:rPr lang="en-US" altLang="en-US"/>
              <a:t>несколькими</a:t>
            </a:r>
            <a:r>
              <a:rPr lang="en-US" altLang="ru-RU"/>
              <a:t> </a:t>
            </a:r>
            <a:r>
              <a:rPr lang="en-US" altLang="en-US"/>
              <a:t>способами</a:t>
            </a:r>
            <a:r>
              <a:rPr lang="en-US" altLang="ru-RU"/>
              <a:t>, </a:t>
            </a:r>
            <a:r>
              <a:rPr lang="en-US" altLang="en-US"/>
              <a:t>но</a:t>
            </a:r>
            <a:r>
              <a:rPr lang="en-US" altLang="ru-RU"/>
              <a:t> </a:t>
            </a:r>
            <a:r>
              <a:rPr lang="en-US" altLang="en-US"/>
              <a:t>заранее</a:t>
            </a:r>
            <a:r>
              <a:rPr lang="en-US" altLang="ru-RU"/>
              <a:t> </a:t>
            </a:r>
            <a:r>
              <a:rPr lang="en-US" altLang="en-US"/>
              <a:t>неизвестно</a:t>
            </a:r>
            <a:r>
              <a:rPr lang="en-US" altLang="ru-RU"/>
              <a:t>, </a:t>
            </a:r>
            <a:r>
              <a:rPr lang="en-US" altLang="en-US"/>
              <a:t>какой</a:t>
            </a:r>
            <a:r>
              <a:rPr lang="en-US" altLang="ru-RU"/>
              <a:t> </a:t>
            </a:r>
            <a:r>
              <a:rPr lang="en-US" altLang="en-US"/>
              <a:t>именно</a:t>
            </a:r>
            <a:r>
              <a:rPr lang="en-US" altLang="ru-RU"/>
              <a:t> </a:t>
            </a:r>
            <a:r>
              <a:rPr lang="en-US" altLang="en-US"/>
              <a:t>запрос</a:t>
            </a:r>
            <a:r>
              <a:rPr lang="en-US" altLang="ru-RU"/>
              <a:t> </a:t>
            </a:r>
            <a:r>
              <a:rPr lang="en-US" altLang="en-US"/>
              <a:t>придет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какой</a:t>
            </a:r>
            <a:r>
              <a:rPr lang="en-US" altLang="ru-RU"/>
              <a:t> </a:t>
            </a:r>
            <a:r>
              <a:rPr lang="en-US" altLang="en-US"/>
              <a:t>обработчик</a:t>
            </a:r>
            <a:r>
              <a:rPr lang="en-US" altLang="ru-RU"/>
              <a:t> </a:t>
            </a:r>
            <a:r>
              <a:rPr lang="en-US" altLang="en-US"/>
              <a:t>ему</a:t>
            </a:r>
            <a:r>
              <a:rPr lang="en-US" altLang="ru-RU"/>
              <a:t> </a:t>
            </a:r>
            <a:r>
              <a:rPr lang="en-US" altLang="en-US"/>
              <a:t>понадобится</a:t>
            </a:r>
            <a:r>
              <a:rPr lang="en-US" altLang="ru-RU"/>
              <a:t>.</a:t>
            </a:r>
            <a:endParaRPr lang="en-US" altLang="ru-RU"/>
          </a:p>
          <a:p>
            <a:pPr algn="just"/>
            <a:r>
              <a:rPr lang="en-US" altLang="en-US"/>
              <a:t>Важен</a:t>
            </a:r>
            <a:r>
              <a:rPr lang="en-US" altLang="ru-RU"/>
              <a:t> </a:t>
            </a:r>
            <a:r>
              <a:rPr lang="en-US" altLang="en-US"/>
              <a:t>порядок</a:t>
            </a:r>
            <a:r>
              <a:rPr lang="en-US" altLang="ru-RU"/>
              <a:t>: </a:t>
            </a:r>
            <a:r>
              <a:rPr lang="en-US" altLang="en-US"/>
              <a:t>необходимо</a:t>
            </a:r>
            <a:r>
              <a:rPr lang="en-US" altLang="ru-RU"/>
              <a:t>, </a:t>
            </a:r>
            <a:r>
              <a:rPr lang="en-US" altLang="en-US"/>
              <a:t>чтобы</a:t>
            </a:r>
            <a:r>
              <a:rPr lang="en-US" altLang="ru-RU"/>
              <a:t> </a:t>
            </a:r>
            <a:r>
              <a:rPr lang="en-US" altLang="en-US"/>
              <a:t>несколько</a:t>
            </a:r>
            <a:r>
              <a:rPr lang="en-US" altLang="ru-RU"/>
              <a:t> </a:t>
            </a:r>
            <a:r>
              <a:rPr lang="en-US" altLang="en-US"/>
              <a:t>обработчиков</a:t>
            </a:r>
            <a:r>
              <a:rPr lang="en-US" altLang="ru-RU"/>
              <a:t> </a:t>
            </a:r>
            <a:r>
              <a:rPr lang="en-US" altLang="en-US"/>
              <a:t>проверили</a:t>
            </a:r>
            <a:r>
              <a:rPr lang="en-US" altLang="ru-RU"/>
              <a:t> </a:t>
            </a:r>
            <a:r>
              <a:rPr lang="en-US" altLang="en-US"/>
              <a:t>запрос</a:t>
            </a:r>
            <a:r>
              <a:rPr lang="en-US" altLang="ru-RU"/>
              <a:t> </a:t>
            </a:r>
            <a:r>
              <a:rPr lang="en-US" altLang="en-US"/>
              <a:t>строго</a:t>
            </a:r>
            <a:r>
              <a:rPr lang="en-US" altLang="ru-RU"/>
              <a:t> </a:t>
            </a:r>
            <a:r>
              <a:rPr lang="en-US" altLang="en-US"/>
              <a:t>один</a:t>
            </a:r>
            <a:r>
              <a:rPr lang="en-US" altLang="ru-RU"/>
              <a:t> </a:t>
            </a:r>
            <a:r>
              <a:rPr lang="en-US" altLang="en-US"/>
              <a:t>за</a:t>
            </a:r>
            <a:r>
              <a:rPr lang="en-US" altLang="ru-RU"/>
              <a:t> </a:t>
            </a:r>
            <a:r>
              <a:rPr lang="en-US" altLang="en-US"/>
              <a:t>другим</a:t>
            </a:r>
            <a:r>
              <a:rPr lang="en-US" altLang="ru-RU"/>
              <a:t>.</a:t>
            </a:r>
            <a:endParaRPr lang="en-US" altLang="ru-RU"/>
          </a:p>
          <a:p>
            <a:pPr algn="just"/>
            <a:r>
              <a:rPr lang="en-US" altLang="en-US"/>
              <a:t>Динамическая</a:t>
            </a:r>
            <a:r>
              <a:rPr lang="en-US" altLang="ru-RU"/>
              <a:t> </a:t>
            </a:r>
            <a:r>
              <a:rPr lang="en-US" altLang="en-US"/>
              <a:t>смена</a:t>
            </a:r>
            <a:r>
              <a:rPr lang="en-US" altLang="ru-RU"/>
              <a:t>: </a:t>
            </a:r>
            <a:r>
              <a:rPr lang="ru-RU" altLang="en-US"/>
              <a:t>е</a:t>
            </a:r>
            <a:r>
              <a:rPr lang="en-US" altLang="en-US"/>
              <a:t>сли</a:t>
            </a:r>
            <a:r>
              <a:rPr lang="en-US" altLang="ru-RU"/>
              <a:t> </a:t>
            </a:r>
            <a:r>
              <a:rPr lang="en-US" altLang="en-US"/>
              <a:t>набор</a:t>
            </a:r>
            <a:r>
              <a:rPr lang="en-US" altLang="ru-RU"/>
              <a:t> </a:t>
            </a:r>
            <a:r>
              <a:rPr lang="en-US" altLang="en-US"/>
              <a:t>обработчиков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их</a:t>
            </a:r>
            <a:r>
              <a:rPr lang="en-US" altLang="ru-RU"/>
              <a:t> </a:t>
            </a:r>
            <a:r>
              <a:rPr lang="en-US" altLang="en-US"/>
              <a:t>порядок</a:t>
            </a:r>
            <a:r>
              <a:rPr lang="en-US" altLang="ru-RU"/>
              <a:t> </a:t>
            </a:r>
            <a:r>
              <a:rPr lang="en-US" altLang="en-US"/>
              <a:t>должны</a:t>
            </a:r>
            <a:r>
              <a:rPr lang="en-US" altLang="ru-RU"/>
              <a:t> </a:t>
            </a:r>
            <a:r>
              <a:rPr lang="en-US" altLang="en-US"/>
              <a:t>меняться</a:t>
            </a:r>
            <a:r>
              <a:rPr lang="en-US" altLang="ru-RU"/>
              <a:t> </a:t>
            </a:r>
            <a:r>
              <a:rPr lang="en-US" altLang="en-US"/>
              <a:t>прямо</a:t>
            </a:r>
            <a:r>
              <a:rPr lang="en-US" altLang="ru-RU"/>
              <a:t> </a:t>
            </a:r>
            <a:r>
              <a:rPr lang="en-US" altLang="en-US"/>
              <a:t>во</a:t>
            </a:r>
            <a:r>
              <a:rPr lang="en-US" altLang="ru-RU"/>
              <a:t> </a:t>
            </a:r>
            <a:r>
              <a:rPr lang="en-US" altLang="en-US"/>
              <a:t>время</a:t>
            </a:r>
            <a:r>
              <a:rPr lang="en-US" altLang="ru-RU"/>
              <a:t> </a:t>
            </a:r>
            <a:r>
              <a:rPr lang="en-US" altLang="en-US"/>
              <a:t>работы</a:t>
            </a:r>
            <a:r>
              <a:rPr lang="en-US" altLang="ru-RU"/>
              <a:t> </a:t>
            </a:r>
            <a:r>
              <a:rPr lang="en-US" altLang="en-US"/>
              <a:t>программы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>
                <a:sym typeface="+mn-ea"/>
              </a:rPr>
              <a:t>Реализация</a:t>
            </a:r>
            <a:r>
              <a:rPr lang="en-US" altLang="ru-RU">
                <a:sym typeface="+mn-ea"/>
              </a:rPr>
              <a:t> </a:t>
            </a:r>
            <a:r>
              <a:rPr lang="ru-RU" altLang="en-US">
                <a:sym typeface="+mn-ea"/>
              </a:rPr>
              <a:t>ц</a:t>
            </a:r>
            <a:r>
              <a:rPr lang="en-US" altLang="en-US">
                <a:sym typeface="+mn-ea"/>
              </a:rPr>
              <a:t>епочк</a:t>
            </a:r>
            <a:r>
              <a:rPr lang="ru-RU" altLang="en-US">
                <a:sym typeface="+mn-ea"/>
              </a:rPr>
              <a:t>и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обязанностей</a:t>
            </a:r>
            <a:endParaRPr lang="ru-RU" altLang="en-US"/>
          </a:p>
        </p:txBody>
      </p:sp>
      <p:pic>
        <p:nvPicPr>
          <p:cNvPr id="4" name="Изображение 3"/>
          <p:cNvPicPr/>
          <p:nvPr/>
        </p:nvPicPr>
        <p:blipFill>
          <a:blip/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</p:spPr>
      </p:pic>
      <p:pic>
        <p:nvPicPr>
          <p:cNvPr id="8" name="Изображение 7"/>
          <p:cNvPicPr/>
          <p:nvPr/>
        </p:nvPicPr>
        <p:blipFill>
          <a:blip r:embed="rId1"/>
          <a:stretch>
            <a:fillRect/>
          </a:stretch>
        </p:blipFill>
        <p:spPr>
          <a:xfrm>
            <a:off x="5448300" y="1319213"/>
            <a:ext cx="6134100" cy="4219575"/>
          </a:xfrm>
          <a:prstGeom prst="rect">
            <a:avLst/>
          </a:prstGeom>
        </p:spPr>
      </p:pic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40" y="928370"/>
            <a:ext cx="4206240" cy="58235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>
                <a:sym typeface="+mn-ea"/>
              </a:rPr>
              <a:t>Плюсы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и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минусы</a:t>
            </a:r>
            <a:endParaRPr lang="ru-RU" altLang="en-US"/>
          </a:p>
        </p:txBody>
      </p:sp>
      <p:sp>
        <p:nvSpPr>
          <p:cNvPr id="5" name="Скругленный прямоугольник 4"/>
          <p:cNvSpPr/>
          <p:nvPr>
            <p:custDataLst>
              <p:tags r:id="rId1"/>
            </p:custDataLst>
          </p:nvPr>
        </p:nvSpPr>
        <p:spPr>
          <a:xfrm>
            <a:off x="609600" y="1650365"/>
            <a:ext cx="5167630" cy="4070985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77800" dist="101600" dir="16320000" algn="l" rotWithShape="0">
              <a:srgbClr val="92D050">
                <a:alpha val="40000"/>
              </a:srgbClr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ru-RU" sz="900" b="0" i="0" u="none" strike="noStrike" cap="none" normalizeH="0" baseline="0" smtClean="0">
              <a:ln>
                <a:solidFill>
                  <a:schemeClr val="tx1"/>
                </a:solidFill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ru-RU" sz="900" b="0" i="0" u="none" strike="noStrike" cap="none" normalizeH="0" baseline="0" smtClean="0">
              <a:ln>
                <a:solidFill>
                  <a:schemeClr val="tx1"/>
                </a:solidFill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900" b="0" i="0" u="none" strike="noStrike" cap="none" normalizeH="0" baseline="0" smtClean="0">
              <a:ln>
                <a:solidFill>
                  <a:schemeClr val="tx1"/>
                </a:solidFill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" name="Скругленный прямоугольник 5"/>
          <p:cNvSpPr/>
          <p:nvPr>
            <p:custDataLst>
              <p:tags r:id="rId2"/>
            </p:custDataLst>
          </p:nvPr>
        </p:nvSpPr>
        <p:spPr>
          <a:xfrm>
            <a:off x="6414770" y="1650365"/>
            <a:ext cx="5167630" cy="4070985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77800" dist="101600" dir="16320000" algn="l" rotWithShape="0">
              <a:srgbClr val="FF3300">
                <a:alpha val="40000"/>
              </a:srgbClr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solidFill>
                  <a:schemeClr val="tx1"/>
                </a:solidFill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" name="Текстовое поле 7"/>
          <p:cNvSpPr txBox="1"/>
          <p:nvPr>
            <p:custDataLst>
              <p:tags r:id="rId3"/>
            </p:custDataLst>
          </p:nvPr>
        </p:nvSpPr>
        <p:spPr>
          <a:xfrm>
            <a:off x="2274570" y="1715770"/>
            <a:ext cx="18376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2800">
                <a:sym typeface="+mn-ea"/>
              </a:rPr>
              <a:t>Плюсы</a:t>
            </a:r>
            <a:r>
              <a:rPr lang="en-US" altLang="ru-RU" sz="2800">
                <a:sym typeface="+mn-ea"/>
              </a:rPr>
              <a:t> </a:t>
            </a:r>
            <a:endParaRPr lang="en-US" altLang="ru-RU" sz="2800">
              <a:sym typeface="+mn-ea"/>
            </a:endParaRPr>
          </a:p>
        </p:txBody>
      </p:sp>
      <p:sp>
        <p:nvSpPr>
          <p:cNvPr id="11" name="Текстовое поле 10"/>
          <p:cNvSpPr txBox="1"/>
          <p:nvPr>
            <p:custDataLst>
              <p:tags r:id="rId4"/>
            </p:custDataLst>
          </p:nvPr>
        </p:nvSpPr>
        <p:spPr>
          <a:xfrm>
            <a:off x="8035925" y="1715770"/>
            <a:ext cx="18376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altLang="en-US" sz="2800">
                <a:sym typeface="+mn-ea"/>
              </a:rPr>
              <a:t>М</a:t>
            </a:r>
            <a:r>
              <a:rPr lang="en-US" altLang="en-US" sz="2800">
                <a:sym typeface="+mn-ea"/>
              </a:rPr>
              <a:t>инусы</a:t>
            </a:r>
            <a:endParaRPr lang="en-US" altLang="ru-RU" sz="2800" b="1">
              <a:sym typeface="+mn-ea"/>
            </a:endParaRPr>
          </a:p>
        </p:txBody>
      </p:sp>
      <p:sp>
        <p:nvSpPr>
          <p:cNvPr id="7" name="Текстовое поле 6"/>
          <p:cNvSpPr txBox="1"/>
          <p:nvPr>
            <p:custDataLst>
              <p:tags r:id="rId5"/>
            </p:custDataLst>
          </p:nvPr>
        </p:nvSpPr>
        <p:spPr>
          <a:xfrm>
            <a:off x="609600" y="2483485"/>
            <a:ext cx="4961255" cy="240474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 algn="just" fontAlgn="base">
              <a:spcBef>
                <a:spcPct val="20000"/>
              </a:spcBef>
              <a:buClrTx/>
              <a:buSzTx/>
              <a:buFontTx/>
              <a:buChar char="•"/>
            </a:pPr>
            <a:r>
              <a:rPr lang="en-US" altLang="en-US" sz="1600" b="1" i="0"/>
              <a:t>Снижение</a:t>
            </a:r>
            <a:r>
              <a:rPr lang="en-US" altLang="ru-RU" sz="1600" b="1" i="0"/>
              <a:t> </a:t>
            </a:r>
            <a:r>
              <a:rPr lang="en-US" altLang="en-US" sz="1600" b="1" i="0"/>
              <a:t>связанности</a:t>
            </a:r>
            <a:r>
              <a:rPr lang="en-US" altLang="ru-RU" sz="1600" b="1" i="0"/>
              <a:t>.</a:t>
            </a:r>
            <a:r>
              <a:rPr lang="en-US" altLang="ru-RU" sz="1600" b="0" i="0"/>
              <a:t> </a:t>
            </a:r>
            <a:r>
              <a:rPr lang="en-US" altLang="en-US" sz="1600" b="0" i="0"/>
              <a:t>Отправитель</a:t>
            </a:r>
            <a:r>
              <a:rPr lang="en-US" altLang="ru-RU" sz="1600" b="0" i="0"/>
              <a:t> </a:t>
            </a:r>
            <a:r>
              <a:rPr lang="en-US" altLang="en-US" sz="1600" b="0" i="0"/>
              <a:t>запроса</a:t>
            </a:r>
            <a:r>
              <a:rPr lang="en-US" altLang="ru-RU" sz="1600" b="0" i="0"/>
              <a:t> </a:t>
            </a:r>
            <a:r>
              <a:rPr lang="en-US" altLang="en-US" sz="1600" b="0" i="0"/>
              <a:t>не</a:t>
            </a:r>
            <a:r>
              <a:rPr lang="en-US" altLang="ru-RU" sz="1600" b="0" i="0"/>
              <a:t> </a:t>
            </a:r>
            <a:r>
              <a:rPr lang="en-US" altLang="en-US" sz="1600" b="0" i="0"/>
              <a:t>знает</a:t>
            </a:r>
            <a:r>
              <a:rPr lang="en-US" altLang="ru-RU" sz="1600" b="0" i="0"/>
              <a:t>, </a:t>
            </a:r>
            <a:r>
              <a:rPr lang="en-US" altLang="en-US" sz="1600" b="0" i="0"/>
              <a:t>кто</a:t>
            </a:r>
            <a:r>
              <a:rPr lang="en-US" altLang="ru-RU" sz="1600" b="0" i="0"/>
              <a:t> </a:t>
            </a:r>
            <a:r>
              <a:rPr lang="en-US" altLang="en-US" sz="1600" b="0" i="0"/>
              <a:t>именно</a:t>
            </a:r>
            <a:r>
              <a:rPr lang="en-US" altLang="ru-RU" sz="1600" b="0" i="0"/>
              <a:t> </a:t>
            </a:r>
            <a:r>
              <a:rPr lang="en-US" altLang="en-US" sz="1600" b="0" i="0"/>
              <a:t>из</a:t>
            </a:r>
            <a:r>
              <a:rPr lang="en-US" altLang="ru-RU" sz="1600" b="0" i="0"/>
              <a:t> </a:t>
            </a:r>
            <a:r>
              <a:rPr lang="en-US" altLang="en-US" sz="1600" b="0" i="0"/>
              <a:t>цепочки</a:t>
            </a:r>
            <a:r>
              <a:rPr lang="en-US" altLang="ru-RU" sz="1600" b="0" i="0"/>
              <a:t> </a:t>
            </a:r>
            <a:r>
              <a:rPr lang="en-US" altLang="en-US" sz="1600" b="0" i="0"/>
              <a:t>его</a:t>
            </a:r>
            <a:r>
              <a:rPr lang="en-US" altLang="ru-RU" sz="1600" b="0" i="0"/>
              <a:t> </a:t>
            </a:r>
            <a:r>
              <a:rPr lang="en-US" altLang="en-US" sz="1600" b="0" i="0"/>
              <a:t>обработает</a:t>
            </a:r>
            <a:r>
              <a:rPr lang="en-US" altLang="ru-RU" sz="1600" b="0" i="0"/>
              <a:t>.</a:t>
            </a:r>
            <a:endParaRPr lang="en-US" altLang="ru-RU" sz="1600" b="0" i="0"/>
          </a:p>
          <a:p>
            <a:pPr marL="342900" indent="-342900" algn="just" fontAlgn="base">
              <a:spcBef>
                <a:spcPct val="20000"/>
              </a:spcBef>
              <a:buClrTx/>
              <a:buSzTx/>
              <a:buFontTx/>
              <a:buChar char="•"/>
            </a:pPr>
            <a:r>
              <a:rPr lang="en-US" altLang="en-US" sz="1600" b="1" i="0"/>
              <a:t>Принцип</a:t>
            </a:r>
            <a:r>
              <a:rPr lang="en-US" altLang="ru-RU" sz="1600" b="1" i="0"/>
              <a:t> </a:t>
            </a:r>
            <a:r>
              <a:rPr lang="en-US" altLang="en-US" sz="1600" b="1" i="0"/>
              <a:t>единственной</a:t>
            </a:r>
            <a:r>
              <a:rPr lang="en-US" altLang="ru-RU" sz="1600" b="1" i="0"/>
              <a:t> </a:t>
            </a:r>
            <a:r>
              <a:rPr lang="en-US" altLang="en-US" sz="1600" b="1" i="0"/>
              <a:t>ответственности</a:t>
            </a:r>
            <a:r>
              <a:rPr lang="en-US" altLang="ru-RU" sz="1600" b="1" i="0"/>
              <a:t>.</a:t>
            </a:r>
            <a:r>
              <a:rPr lang="en-US" altLang="ru-RU" sz="1600" b="0" i="0"/>
              <a:t> </a:t>
            </a:r>
            <a:r>
              <a:rPr lang="ru-RU" altLang="en-US" sz="1600" b="0" i="0"/>
              <a:t>Можно</a:t>
            </a:r>
            <a:r>
              <a:rPr lang="en-US" altLang="ru-RU" sz="1600" b="0" i="0"/>
              <a:t> </a:t>
            </a:r>
            <a:r>
              <a:rPr lang="en-US" altLang="en-US" sz="1600" b="0" i="0"/>
              <a:t>разделить</a:t>
            </a:r>
            <a:r>
              <a:rPr lang="en-US" altLang="ru-RU" sz="1600" b="0" i="0"/>
              <a:t> </a:t>
            </a:r>
            <a:r>
              <a:rPr lang="en-US" altLang="en-US" sz="1600" b="0" i="0"/>
              <a:t>классы</a:t>
            </a:r>
            <a:r>
              <a:rPr lang="en-US" altLang="ru-RU" sz="1600" b="0" i="0"/>
              <a:t> </a:t>
            </a:r>
            <a:r>
              <a:rPr lang="en-US" altLang="en-US" sz="1600" b="0" i="0"/>
              <a:t>на</a:t>
            </a:r>
            <a:r>
              <a:rPr lang="en-US" altLang="ru-RU" sz="1600" b="0" i="0"/>
              <a:t> </a:t>
            </a:r>
            <a:r>
              <a:rPr lang="en-US" altLang="en-US" sz="1600" b="0" i="0"/>
              <a:t>те</a:t>
            </a:r>
            <a:r>
              <a:rPr lang="en-US" altLang="ru-RU" sz="1600" b="0" i="0"/>
              <a:t>, </a:t>
            </a:r>
            <a:r>
              <a:rPr lang="en-US" altLang="en-US" sz="1600" b="0" i="0"/>
              <a:t>что</a:t>
            </a:r>
            <a:r>
              <a:rPr lang="en-US" altLang="ru-RU" sz="1600" b="0" i="0"/>
              <a:t> </a:t>
            </a:r>
            <a:r>
              <a:rPr lang="en-US" altLang="en-US" sz="1600" b="0" i="0"/>
              <a:t>принимают</a:t>
            </a:r>
            <a:r>
              <a:rPr lang="en-US" altLang="ru-RU" sz="1600" b="0" i="0"/>
              <a:t> </a:t>
            </a:r>
            <a:r>
              <a:rPr lang="en-US" altLang="en-US" sz="1600" b="0" i="0"/>
              <a:t>решение</a:t>
            </a:r>
            <a:r>
              <a:rPr lang="en-US" altLang="ru-RU" sz="1600" b="0" i="0"/>
              <a:t>, </a:t>
            </a:r>
            <a:r>
              <a:rPr lang="en-US" altLang="en-US" sz="1600" b="0" i="0"/>
              <a:t>и</a:t>
            </a:r>
            <a:r>
              <a:rPr lang="en-US" altLang="ru-RU" sz="1600" b="0" i="0"/>
              <a:t> </a:t>
            </a:r>
            <a:r>
              <a:rPr lang="en-US" altLang="en-US" sz="1600" b="0" i="0"/>
              <a:t>те</a:t>
            </a:r>
            <a:r>
              <a:rPr lang="en-US" altLang="ru-RU" sz="1600" b="0" i="0"/>
              <a:t>, </a:t>
            </a:r>
            <a:r>
              <a:rPr lang="en-US" altLang="en-US" sz="1600" b="0" i="0"/>
              <a:t>что</a:t>
            </a:r>
            <a:r>
              <a:rPr lang="en-US" altLang="ru-RU" sz="1600" b="0" i="0"/>
              <a:t> </a:t>
            </a:r>
            <a:r>
              <a:rPr lang="en-US" altLang="en-US" sz="1600" b="0" i="0"/>
              <a:t>выполняют</a:t>
            </a:r>
            <a:r>
              <a:rPr lang="en-US" altLang="ru-RU" sz="1600" b="0" i="0"/>
              <a:t> </a:t>
            </a:r>
            <a:r>
              <a:rPr lang="en-US" altLang="en-US" sz="1600" b="0" i="0"/>
              <a:t>действие</a:t>
            </a:r>
            <a:r>
              <a:rPr lang="en-US" altLang="ru-RU" sz="1600" b="0" i="0"/>
              <a:t>.	</a:t>
            </a:r>
            <a:endParaRPr lang="en-US" altLang="ru-RU" sz="1600" b="0" i="0"/>
          </a:p>
          <a:p>
            <a:pPr marL="342900" indent="-342900" algn="just" fontAlgn="base">
              <a:spcBef>
                <a:spcPct val="20000"/>
              </a:spcBef>
              <a:buClrTx/>
              <a:buSzTx/>
              <a:buFontTx/>
              <a:buChar char="•"/>
            </a:pPr>
            <a:r>
              <a:rPr lang="en-US" altLang="en-US" sz="1600" b="1" i="0"/>
              <a:t>Гибкость</a:t>
            </a:r>
            <a:r>
              <a:rPr lang="en-US" altLang="ru-RU" sz="1600" b="0" i="0"/>
              <a:t>. </a:t>
            </a:r>
            <a:r>
              <a:rPr lang="en-US" altLang="en-US" sz="1600" b="0" i="0"/>
              <a:t>Можно</a:t>
            </a:r>
            <a:r>
              <a:rPr lang="en-US" altLang="ru-RU" sz="1600" b="0" i="0"/>
              <a:t> </a:t>
            </a:r>
            <a:r>
              <a:rPr lang="en-US" altLang="en-US" sz="1600" b="0" i="0"/>
              <a:t>добавлять</a:t>
            </a:r>
            <a:r>
              <a:rPr lang="en-US" altLang="ru-RU" sz="1600" b="0" i="0"/>
              <a:t> </a:t>
            </a:r>
            <a:r>
              <a:rPr lang="en-US" altLang="en-US" sz="1600" b="0" i="0"/>
              <a:t>новые</a:t>
            </a:r>
            <a:r>
              <a:rPr lang="en-US" altLang="ru-RU" sz="1600" b="0" i="0"/>
              <a:t> </a:t>
            </a:r>
            <a:r>
              <a:rPr lang="en-US" altLang="en-US" sz="1600" b="0" i="0"/>
              <a:t>звенья</a:t>
            </a:r>
            <a:r>
              <a:rPr lang="en-US" altLang="ru-RU" sz="1600" b="0" i="0"/>
              <a:t> </a:t>
            </a:r>
            <a:r>
              <a:rPr lang="en-US" altLang="en-US" sz="1600" b="0" i="0"/>
              <a:t>в</a:t>
            </a:r>
            <a:r>
              <a:rPr lang="en-US" altLang="ru-RU" sz="1600" b="0" i="0"/>
              <a:t> </a:t>
            </a:r>
            <a:r>
              <a:rPr lang="en-US" altLang="en-US" sz="1600" b="0" i="0"/>
              <a:t>цепочку</a:t>
            </a:r>
            <a:r>
              <a:rPr lang="en-US" altLang="ru-RU" sz="1600" b="0" i="0"/>
              <a:t>, </a:t>
            </a:r>
            <a:r>
              <a:rPr lang="en-US" altLang="en-US" sz="1600" b="0" i="0"/>
              <a:t>не</a:t>
            </a:r>
            <a:r>
              <a:rPr lang="en-US" altLang="ru-RU" sz="1600" b="0" i="0"/>
              <a:t> </a:t>
            </a:r>
            <a:r>
              <a:rPr lang="en-US" altLang="en-US" sz="1600" b="0" i="0"/>
              <a:t>меняя</a:t>
            </a:r>
            <a:r>
              <a:rPr lang="en-US" altLang="ru-RU" sz="1600" b="0" i="0"/>
              <a:t> </a:t>
            </a:r>
            <a:r>
              <a:rPr lang="en-US" altLang="en-US" sz="1600" b="0" i="0"/>
              <a:t>существующий</a:t>
            </a:r>
            <a:r>
              <a:rPr lang="en-US" altLang="ru-RU" sz="1600" b="0" i="0"/>
              <a:t> </a:t>
            </a:r>
            <a:r>
              <a:rPr lang="en-US" altLang="en-US" sz="1600" b="0" i="0"/>
              <a:t>код</a:t>
            </a:r>
            <a:r>
              <a:rPr lang="en-US" altLang="ru-RU" sz="1600" b="0" i="0"/>
              <a:t>.</a:t>
            </a:r>
            <a:endParaRPr lang="en-US" altLang="ru-RU" sz="1600" b="0" i="0"/>
          </a:p>
        </p:txBody>
      </p:sp>
      <p:sp>
        <p:nvSpPr>
          <p:cNvPr id="12" name="Текстовое поле 11"/>
          <p:cNvSpPr txBox="1"/>
          <p:nvPr>
            <p:custDataLst>
              <p:tags r:id="rId6"/>
            </p:custDataLst>
          </p:nvPr>
        </p:nvSpPr>
        <p:spPr>
          <a:xfrm>
            <a:off x="6414770" y="2483485"/>
            <a:ext cx="4961255" cy="240474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 algn="just" fontAlgn="base">
              <a:spcBef>
                <a:spcPct val="20000"/>
              </a:spcBef>
              <a:buClrTx/>
              <a:buSzTx/>
              <a:buFontTx/>
              <a:buChar char="•"/>
            </a:pPr>
            <a:r>
              <a:rPr lang="en-US" altLang="en-US" sz="1600" b="1" i="0"/>
              <a:t>Запрос</a:t>
            </a:r>
            <a:r>
              <a:rPr lang="en-US" altLang="ru-RU" sz="1600" b="1" i="0"/>
              <a:t> </a:t>
            </a:r>
            <a:r>
              <a:rPr lang="en-US" altLang="en-US" sz="1600" b="1" i="0"/>
              <a:t>может</a:t>
            </a:r>
            <a:r>
              <a:rPr lang="en-US" altLang="ru-RU" sz="1600" b="1" i="0"/>
              <a:t> </a:t>
            </a:r>
            <a:r>
              <a:rPr lang="en-US" altLang="en-US" sz="1600" b="1" i="0"/>
              <a:t>остаться</a:t>
            </a:r>
            <a:r>
              <a:rPr lang="en-US" altLang="ru-RU" sz="1600" b="1" i="0"/>
              <a:t> </a:t>
            </a:r>
            <a:r>
              <a:rPr lang="en-US" altLang="en-US" sz="1600" b="1" i="0"/>
              <a:t>без</a:t>
            </a:r>
            <a:r>
              <a:rPr lang="en-US" altLang="ru-RU" sz="1600" b="1" i="0"/>
              <a:t> </a:t>
            </a:r>
            <a:r>
              <a:rPr lang="en-US" altLang="en-US" sz="1600" b="1" i="0"/>
              <a:t>ответа</a:t>
            </a:r>
            <a:r>
              <a:rPr lang="en-US" altLang="ru-RU" sz="1600" b="0" i="0"/>
              <a:t>. </a:t>
            </a:r>
            <a:r>
              <a:rPr lang="en-US" altLang="en-US" sz="1600" b="0" i="0"/>
              <a:t>Если</a:t>
            </a:r>
            <a:r>
              <a:rPr lang="en-US" altLang="ru-RU" sz="1600" b="0" i="0"/>
              <a:t> </a:t>
            </a:r>
            <a:r>
              <a:rPr lang="en-US" altLang="en-US" sz="1600" b="0" i="0"/>
              <a:t>ни</a:t>
            </a:r>
            <a:r>
              <a:rPr lang="en-US" altLang="ru-RU" sz="1600" b="0" i="0"/>
              <a:t> </a:t>
            </a:r>
            <a:r>
              <a:rPr lang="en-US" altLang="en-US" sz="1600" b="0" i="0"/>
              <a:t>один</a:t>
            </a:r>
            <a:r>
              <a:rPr lang="en-US" altLang="ru-RU" sz="1600" b="0" i="0"/>
              <a:t> </a:t>
            </a:r>
            <a:r>
              <a:rPr lang="en-US" altLang="en-US" sz="1600" b="0" i="0"/>
              <a:t>обработчик</a:t>
            </a:r>
            <a:r>
              <a:rPr lang="en-US" altLang="ru-RU" sz="1600" b="0" i="0"/>
              <a:t> </a:t>
            </a:r>
            <a:r>
              <a:rPr lang="en-US" altLang="en-US" sz="1600" b="0" i="0"/>
              <a:t>не</a:t>
            </a:r>
            <a:r>
              <a:rPr lang="en-US" altLang="ru-RU" sz="1600" b="0" i="0"/>
              <a:t> </a:t>
            </a:r>
            <a:r>
              <a:rPr lang="en-US" altLang="en-US" sz="1600" b="0" i="0"/>
              <a:t>справился</a:t>
            </a:r>
            <a:r>
              <a:rPr lang="en-US" altLang="ru-RU" sz="1600" b="0" i="0"/>
              <a:t>, </a:t>
            </a:r>
            <a:r>
              <a:rPr lang="en-US" altLang="en-US" sz="1600" b="0" i="0"/>
              <a:t>запрос</a:t>
            </a:r>
            <a:r>
              <a:rPr lang="en-US" altLang="ru-RU" sz="1600" b="0" i="0"/>
              <a:t> </a:t>
            </a:r>
            <a:r>
              <a:rPr lang="en-US" altLang="en-US" sz="1600" b="0" i="0"/>
              <a:t>просто</a:t>
            </a:r>
            <a:r>
              <a:rPr lang="en-US" altLang="ru-RU" sz="1600" b="0" i="0"/>
              <a:t> </a:t>
            </a:r>
            <a:r>
              <a:rPr lang="en-US" altLang="en-US" sz="1600" b="0" i="0"/>
              <a:t>упадет</a:t>
            </a:r>
            <a:r>
              <a:rPr lang="en-US" altLang="ru-RU" sz="1600" b="0" i="0"/>
              <a:t> </a:t>
            </a:r>
            <a:r>
              <a:rPr lang="en-US" altLang="en-US" sz="1600" b="0" i="0"/>
              <a:t>в</a:t>
            </a:r>
            <a:r>
              <a:rPr lang="en-US" altLang="ru-RU" sz="1600" b="0" i="0"/>
              <a:t> </a:t>
            </a:r>
            <a:r>
              <a:rPr lang="en-US" altLang="en-US" sz="1600" b="0" i="0"/>
              <a:t>конце</a:t>
            </a:r>
            <a:r>
              <a:rPr lang="en-US" altLang="ru-RU" sz="1600" b="0" i="0"/>
              <a:t> </a:t>
            </a:r>
            <a:r>
              <a:rPr lang="en-US" altLang="en-US" sz="1600" b="0" i="0"/>
              <a:t>цепи</a:t>
            </a:r>
            <a:r>
              <a:rPr lang="en-US" altLang="ru-RU" sz="1600" b="0" i="0"/>
              <a:t>.</a:t>
            </a:r>
            <a:endParaRPr lang="en-US" altLang="ru-RU" sz="1600" b="0" i="0"/>
          </a:p>
          <a:p>
            <a:pPr marL="342900" indent="-342900" algn="just" fontAlgn="base">
              <a:spcBef>
                <a:spcPct val="20000"/>
              </a:spcBef>
              <a:buClrTx/>
              <a:buSzTx/>
              <a:buFontTx/>
              <a:buChar char="•"/>
            </a:pPr>
            <a:r>
              <a:rPr lang="en-US" altLang="en-US" sz="1600" b="1" i="0"/>
              <a:t>Сложность</a:t>
            </a:r>
            <a:r>
              <a:rPr lang="en-US" altLang="ru-RU" sz="1600" b="1" i="0"/>
              <a:t> </a:t>
            </a:r>
            <a:r>
              <a:rPr lang="en-US" altLang="en-US" sz="1600" b="1" i="0"/>
              <a:t>отладки</a:t>
            </a:r>
            <a:r>
              <a:rPr lang="en-US" altLang="ru-RU" sz="1600" b="1" i="0"/>
              <a:t>.</a:t>
            </a:r>
            <a:r>
              <a:rPr lang="en-US" altLang="ru-RU" sz="1600" b="0" i="0"/>
              <a:t> </a:t>
            </a:r>
            <a:r>
              <a:rPr lang="en-US" altLang="en-US" sz="1600" b="0" i="0"/>
              <a:t>Труднее</a:t>
            </a:r>
            <a:r>
              <a:rPr lang="en-US" altLang="ru-RU" sz="1600" b="0" i="0"/>
              <a:t> </a:t>
            </a:r>
            <a:r>
              <a:rPr lang="en-US" altLang="en-US" sz="1600" b="0" i="0"/>
              <a:t>отследить</a:t>
            </a:r>
            <a:r>
              <a:rPr lang="en-US" altLang="ru-RU" sz="1600" b="0" i="0"/>
              <a:t> </a:t>
            </a:r>
            <a:r>
              <a:rPr lang="en-US" altLang="en-US" sz="1600" b="0" i="0"/>
              <a:t>путь</a:t>
            </a:r>
            <a:r>
              <a:rPr lang="en-US" altLang="ru-RU" sz="1600" b="0" i="0"/>
              <a:t> </a:t>
            </a:r>
            <a:r>
              <a:rPr lang="en-US" altLang="en-US" sz="1600" b="0" i="0"/>
              <a:t>запроса</a:t>
            </a:r>
            <a:r>
              <a:rPr lang="en-US" altLang="ru-RU" sz="1600" b="0" i="0"/>
              <a:t>, </a:t>
            </a:r>
            <a:r>
              <a:rPr lang="en-US" altLang="en-US" sz="1600" b="0" i="0"/>
              <a:t>если</a:t>
            </a:r>
            <a:r>
              <a:rPr lang="en-US" altLang="ru-RU" sz="1600" b="0" i="0"/>
              <a:t> </a:t>
            </a:r>
            <a:r>
              <a:rPr lang="en-US" altLang="en-US" sz="1600" b="0" i="0"/>
              <a:t>цепочка</a:t>
            </a:r>
            <a:r>
              <a:rPr lang="en-US" altLang="ru-RU" sz="1600" b="0" i="0"/>
              <a:t> </a:t>
            </a:r>
            <a:r>
              <a:rPr lang="en-US" altLang="en-US" sz="1600" b="0" i="0"/>
              <a:t>очень</a:t>
            </a:r>
            <a:r>
              <a:rPr lang="en-US" altLang="ru-RU" sz="1600" b="0" i="0"/>
              <a:t> </a:t>
            </a:r>
            <a:r>
              <a:rPr lang="en-US" altLang="en-US" sz="1600" b="0" i="0"/>
              <a:t>длинная</a:t>
            </a:r>
            <a:r>
              <a:rPr lang="en-US" altLang="ru-RU" sz="1600" b="0" i="0"/>
              <a:t> </a:t>
            </a:r>
            <a:r>
              <a:rPr lang="en-US" altLang="en-US" sz="1600" b="0" i="0"/>
              <a:t>или</a:t>
            </a:r>
            <a:r>
              <a:rPr lang="en-US" altLang="ru-RU" sz="1600" b="0" i="0"/>
              <a:t> </a:t>
            </a:r>
            <a:r>
              <a:rPr lang="en-US" altLang="en-US" sz="1600" b="0" i="0"/>
              <a:t>динамически</a:t>
            </a:r>
            <a:r>
              <a:rPr lang="en-US" altLang="ru-RU" sz="1600" b="0" i="0"/>
              <a:t> </a:t>
            </a:r>
            <a:r>
              <a:rPr lang="en-US" altLang="en-US" sz="1600" b="0" i="0"/>
              <a:t>меняется</a:t>
            </a:r>
            <a:r>
              <a:rPr lang="en-US" altLang="ru-RU" sz="1600" b="0" i="0"/>
              <a:t>.</a:t>
            </a:r>
            <a:endParaRPr lang="en-US" altLang="ru-RU" sz="1600" b="0" i="0"/>
          </a:p>
          <a:p>
            <a:pPr marL="342900" indent="-342900" algn="just" fontAlgn="base">
              <a:spcBef>
                <a:spcPct val="20000"/>
              </a:spcBef>
              <a:buClrTx/>
              <a:buSzTx/>
              <a:buFontTx/>
              <a:buChar char="•"/>
            </a:pPr>
            <a:r>
              <a:rPr lang="en-US" altLang="en-US" sz="1600" b="1" i="0"/>
              <a:t>Влияние</a:t>
            </a:r>
            <a:r>
              <a:rPr lang="en-US" altLang="ru-RU" sz="1600" b="1" i="0"/>
              <a:t> </a:t>
            </a:r>
            <a:r>
              <a:rPr lang="en-US" altLang="en-US" sz="1600" b="1" i="0"/>
              <a:t>на</a:t>
            </a:r>
            <a:r>
              <a:rPr lang="en-US" altLang="ru-RU" sz="1600" b="1" i="0"/>
              <a:t> </a:t>
            </a:r>
            <a:r>
              <a:rPr lang="en-US" altLang="en-US" sz="1600" b="1" i="0"/>
              <a:t>производительность</a:t>
            </a:r>
            <a:r>
              <a:rPr lang="en-US" altLang="ru-RU" sz="1600" b="1" i="0"/>
              <a:t>.</a:t>
            </a:r>
            <a:r>
              <a:rPr lang="en-US" altLang="ru-RU" sz="1600" b="0" i="0"/>
              <a:t> </a:t>
            </a:r>
            <a:r>
              <a:rPr lang="en-US" altLang="en-US" sz="1600" b="0" i="0"/>
              <a:t>Лишние</a:t>
            </a:r>
            <a:r>
              <a:rPr lang="en-US" altLang="ru-RU" sz="1600" b="0" i="0"/>
              <a:t> </a:t>
            </a:r>
            <a:r>
              <a:rPr lang="en-US" altLang="en-US" sz="1600" b="0" i="0"/>
              <a:t>проходы</a:t>
            </a:r>
            <a:r>
              <a:rPr lang="en-US" altLang="ru-RU" sz="1600" b="0" i="0"/>
              <a:t> </a:t>
            </a:r>
            <a:r>
              <a:rPr lang="en-US" altLang="en-US" sz="1600" b="0" i="0"/>
              <a:t>по</a:t>
            </a:r>
            <a:r>
              <a:rPr lang="en-US" altLang="ru-RU" sz="1600" b="0" i="0"/>
              <a:t> </a:t>
            </a:r>
            <a:r>
              <a:rPr lang="en-US" altLang="en-US" sz="1600" b="0" i="0"/>
              <a:t>цепи</a:t>
            </a:r>
            <a:r>
              <a:rPr lang="en-US" altLang="ru-RU" sz="1600" b="0" i="0"/>
              <a:t> </a:t>
            </a:r>
            <a:r>
              <a:rPr lang="en-US" altLang="en-US" sz="1600" b="0" i="0"/>
              <a:t>могут</a:t>
            </a:r>
            <a:r>
              <a:rPr lang="en-US" altLang="ru-RU" sz="1600" b="0" i="0"/>
              <a:t> </a:t>
            </a:r>
            <a:r>
              <a:rPr lang="en-US" altLang="en-US" sz="1600" b="0" i="0"/>
              <a:t>замедлить</a:t>
            </a:r>
            <a:r>
              <a:rPr lang="en-US" altLang="ru-RU" sz="1600" b="0" i="0"/>
              <a:t> </a:t>
            </a:r>
            <a:r>
              <a:rPr lang="en-US" altLang="en-US" sz="1600" b="0" i="0"/>
              <a:t>систему</a:t>
            </a:r>
            <a:r>
              <a:rPr lang="en-US" altLang="ru-RU" sz="1600" b="0" i="0"/>
              <a:t> </a:t>
            </a:r>
            <a:r>
              <a:rPr lang="en-US" altLang="en-US" sz="1600" b="0" i="0"/>
              <a:t>при</a:t>
            </a:r>
            <a:r>
              <a:rPr lang="en-US" altLang="ru-RU" sz="1600" b="0" i="0"/>
              <a:t> </a:t>
            </a:r>
            <a:r>
              <a:rPr lang="en-US" altLang="en-US" sz="1600" b="0" i="0"/>
              <a:t>очень</a:t>
            </a:r>
            <a:r>
              <a:rPr lang="en-US" altLang="ru-RU" sz="1600" b="0" i="0"/>
              <a:t> </a:t>
            </a:r>
            <a:r>
              <a:rPr lang="en-US" altLang="en-US" sz="1600" b="0" i="0"/>
              <a:t>большом</a:t>
            </a:r>
            <a:r>
              <a:rPr lang="en-US" altLang="ru-RU" sz="1600" b="0" i="0"/>
              <a:t> </a:t>
            </a:r>
            <a:r>
              <a:rPr lang="en-US" altLang="en-US" sz="1600" b="0" i="0"/>
              <a:t>количестве</a:t>
            </a:r>
            <a:r>
              <a:rPr lang="en-US" altLang="ru-RU" sz="1600" b="0" i="0"/>
              <a:t> </a:t>
            </a:r>
            <a:r>
              <a:rPr lang="en-US" altLang="en-US" sz="1600" b="0" i="0"/>
              <a:t>звеньев</a:t>
            </a:r>
            <a:r>
              <a:rPr lang="en-US" altLang="ru-RU" sz="1600" b="0" i="0"/>
              <a:t>.</a:t>
            </a:r>
            <a:endParaRPr lang="en-US" altLang="ru-RU" sz="1600" b="0" i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Что</a:t>
            </a:r>
            <a:r>
              <a:rPr lang="en-US" altLang="ru-RU"/>
              <a:t> </a:t>
            </a:r>
            <a:r>
              <a:rPr lang="en-US" altLang="en-US"/>
              <a:t>такое</a:t>
            </a:r>
            <a:r>
              <a:rPr lang="en-US" altLang="ru-RU"/>
              <a:t> </a:t>
            </a:r>
            <a:r>
              <a:rPr lang="en-US" altLang="en-US"/>
              <a:t>Мост</a:t>
            </a:r>
            <a:r>
              <a:rPr lang="en-US" altLang="ru-RU"/>
              <a:t>?</a:t>
            </a:r>
            <a:endParaRPr lang="en-US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09600" y="1600835"/>
            <a:ext cx="10972800" cy="2131060"/>
          </a:xfrm>
        </p:spPr>
        <p:txBody>
          <a:bodyPr/>
          <a:p>
            <a:pPr marL="0" indent="0">
              <a:buNone/>
            </a:pPr>
            <a:r>
              <a:rPr lang="en-US" altLang="en-US"/>
              <a:t>Паттерн</a:t>
            </a:r>
            <a:r>
              <a:rPr lang="en-US" altLang="ru-RU"/>
              <a:t> </a:t>
            </a:r>
            <a:r>
              <a:rPr lang="en-US" altLang="en-US"/>
              <a:t>Мост</a:t>
            </a:r>
            <a:r>
              <a:rPr lang="en-US" altLang="ru-RU"/>
              <a:t> </a:t>
            </a:r>
            <a:r>
              <a:rPr lang="en-US" altLang="en-US"/>
              <a:t>разделяет</a:t>
            </a:r>
            <a:r>
              <a:rPr lang="en-US" altLang="ru-RU"/>
              <a:t> </a:t>
            </a:r>
            <a:r>
              <a:rPr lang="en-US" altLang="en-US"/>
              <a:t>один</a:t>
            </a:r>
            <a:r>
              <a:rPr lang="en-US" altLang="ru-RU"/>
              <a:t> </a:t>
            </a:r>
            <a:r>
              <a:rPr lang="en-US" altLang="en-US"/>
              <a:t>большой</a:t>
            </a:r>
            <a:r>
              <a:rPr lang="en-US" altLang="ru-RU"/>
              <a:t> </a:t>
            </a:r>
            <a:r>
              <a:rPr lang="en-US" altLang="en-US"/>
              <a:t>класс</a:t>
            </a:r>
            <a:r>
              <a:rPr lang="en-US" altLang="ru-RU"/>
              <a:t> </a:t>
            </a:r>
            <a:r>
              <a:rPr lang="en-US" altLang="en-US"/>
              <a:t>или</a:t>
            </a:r>
            <a:r>
              <a:rPr lang="en-US" altLang="ru-RU"/>
              <a:t> </a:t>
            </a:r>
            <a:r>
              <a:rPr lang="en-US" altLang="en-US"/>
              <a:t>набор</a:t>
            </a:r>
            <a:r>
              <a:rPr lang="en-US" altLang="ru-RU"/>
              <a:t> </a:t>
            </a:r>
            <a:r>
              <a:rPr lang="en-US" altLang="en-US"/>
              <a:t>тесно</a:t>
            </a:r>
            <a:r>
              <a:rPr lang="en-US" altLang="ru-RU"/>
              <a:t> </a:t>
            </a:r>
            <a:r>
              <a:rPr lang="en-US" altLang="en-US"/>
              <a:t>связанных</a:t>
            </a:r>
            <a:r>
              <a:rPr lang="en-US" altLang="ru-RU"/>
              <a:t> </a:t>
            </a:r>
            <a:r>
              <a:rPr lang="en-US" altLang="en-US"/>
              <a:t>классов</a:t>
            </a:r>
            <a:r>
              <a:rPr lang="en-US" altLang="ru-RU"/>
              <a:t> </a:t>
            </a:r>
            <a:r>
              <a:rPr lang="en-US" altLang="en-US"/>
              <a:t>на</a:t>
            </a:r>
            <a:r>
              <a:rPr lang="en-US" altLang="ru-RU"/>
              <a:t> </a:t>
            </a:r>
            <a:r>
              <a:rPr lang="en-US" altLang="en-US"/>
              <a:t>две</a:t>
            </a:r>
            <a:r>
              <a:rPr lang="en-US" altLang="ru-RU"/>
              <a:t> </a:t>
            </a:r>
            <a:r>
              <a:rPr lang="en-US" altLang="en-US"/>
              <a:t>отдельные</a:t>
            </a:r>
            <a:r>
              <a:rPr lang="en-US" altLang="ru-RU"/>
              <a:t> </a:t>
            </a:r>
            <a:r>
              <a:rPr lang="en-US" altLang="en-US"/>
              <a:t>иерархии</a:t>
            </a:r>
            <a:r>
              <a:rPr lang="en-US" altLang="ru-RU"/>
              <a:t> </a:t>
            </a:r>
            <a:r>
              <a:rPr lang="en-US" altLang="ru-RU">
                <a:latin typeface="SimSun" panose="02010600030101010101" pitchFamily="2" charset="-122"/>
                <a:ea typeface="SimSun" panose="02010600030101010101" pitchFamily="2" charset="-122"/>
                <a:sym typeface="+mn-ea"/>
              </a:rPr>
              <a:t>－</a:t>
            </a:r>
            <a:r>
              <a:rPr lang="en-US" altLang="ru-RU"/>
              <a:t> </a:t>
            </a:r>
            <a:r>
              <a:rPr lang="en-US" altLang="en-US" b="1"/>
              <a:t>Абстракцию</a:t>
            </a:r>
            <a:r>
              <a:rPr lang="en-US" altLang="ru-RU" b="1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 b="1"/>
              <a:t>Реализацию</a:t>
            </a:r>
            <a:r>
              <a:rPr lang="en-US" altLang="ru-RU"/>
              <a:t>, </a:t>
            </a:r>
            <a:r>
              <a:rPr lang="en-US" altLang="en-US"/>
              <a:t>которые</a:t>
            </a:r>
            <a:r>
              <a:rPr lang="en-US" altLang="ru-RU"/>
              <a:t> </a:t>
            </a:r>
            <a:r>
              <a:rPr lang="en-US" altLang="en-US"/>
              <a:t>могут</a:t>
            </a:r>
            <a:r>
              <a:rPr lang="en-US" altLang="ru-RU"/>
              <a:t> </a:t>
            </a:r>
            <a:r>
              <a:rPr lang="en-US" altLang="en-US"/>
              <a:t>развиваться</a:t>
            </a:r>
            <a:r>
              <a:rPr lang="en-US" altLang="ru-RU"/>
              <a:t> </a:t>
            </a:r>
            <a:r>
              <a:rPr lang="en-US" altLang="en-US"/>
              <a:t>независимо</a:t>
            </a:r>
            <a:r>
              <a:rPr lang="en-US" altLang="ru-RU"/>
              <a:t>.</a:t>
            </a:r>
            <a:endParaRPr lang="en-US" altLang="ru-RU"/>
          </a:p>
        </p:txBody>
      </p:sp>
      <p:pic>
        <p:nvPicPr>
          <p:cNvPr id="4" name="Изображение 3"/>
          <p:cNvPicPr/>
          <p:nvPr/>
        </p:nvPicPr>
        <p:blipFill>
          <a:blip/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</p:spPr>
      </p:pic>
      <p:pic>
        <p:nvPicPr>
          <p:cNvPr id="5" name="Изображение 4"/>
          <p:cNvPicPr/>
          <p:nvPr/>
        </p:nvPicPr>
        <p:blipFill>
          <a:blip r:embed="rId1"/>
          <a:stretch>
            <a:fillRect/>
          </a:stretch>
        </p:blipFill>
        <p:spPr>
          <a:xfrm>
            <a:off x="3538855" y="3731895"/>
            <a:ext cx="5113655" cy="28282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Когда</a:t>
            </a:r>
            <a:r>
              <a:rPr lang="en-US" altLang="ru-RU"/>
              <a:t> </a:t>
            </a:r>
            <a:r>
              <a:rPr lang="en-US" altLang="en-US"/>
              <a:t>использовать</a:t>
            </a:r>
            <a:r>
              <a:rPr lang="en-US" altLang="ru-RU"/>
              <a:t>?</a:t>
            </a:r>
            <a:endParaRPr lang="en-US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09600" y="1501775"/>
            <a:ext cx="10972800" cy="4953000"/>
          </a:xfrm>
        </p:spPr>
        <p:txBody>
          <a:bodyPr/>
          <a:p>
            <a:r>
              <a:rPr lang="en-US" altLang="en-US"/>
              <a:t>Нужно</a:t>
            </a:r>
            <a:r>
              <a:rPr lang="en-US" altLang="ru-RU"/>
              <a:t> </a:t>
            </a:r>
            <a:r>
              <a:rPr lang="en-US" altLang="en-US"/>
              <a:t>избежать</a:t>
            </a:r>
            <a:r>
              <a:rPr lang="en-US" altLang="ru-RU"/>
              <a:t> </a:t>
            </a:r>
            <a:r>
              <a:rPr lang="ru-RU" altLang="en-US"/>
              <a:t>огромного</a:t>
            </a:r>
            <a:r>
              <a:rPr lang="en-US" altLang="ru-RU"/>
              <a:t> </a:t>
            </a:r>
            <a:r>
              <a:rPr lang="en-US" altLang="en-US"/>
              <a:t>роста</a:t>
            </a:r>
            <a:r>
              <a:rPr lang="en-US" altLang="ru-RU"/>
              <a:t> </a:t>
            </a:r>
            <a:r>
              <a:rPr lang="en-US" altLang="en-US"/>
              <a:t>подклассов</a:t>
            </a:r>
            <a:r>
              <a:rPr lang="en-US" altLang="ru-RU"/>
              <a:t>: </a:t>
            </a:r>
            <a:r>
              <a:rPr lang="en-US" altLang="en-US"/>
              <a:t>Когда</a:t>
            </a:r>
            <a:r>
              <a:rPr lang="en-US" altLang="ru-RU"/>
              <a:t> </a:t>
            </a:r>
            <a:r>
              <a:rPr lang="en-US" altLang="en-US"/>
              <a:t>есть</a:t>
            </a:r>
            <a:r>
              <a:rPr lang="en-US" altLang="ru-RU"/>
              <a:t> </a:t>
            </a:r>
            <a:r>
              <a:rPr lang="en-US" altLang="en-US"/>
              <a:t>класс</a:t>
            </a:r>
            <a:r>
              <a:rPr lang="en-US" altLang="ru-RU"/>
              <a:t>, </a:t>
            </a:r>
            <a:r>
              <a:rPr lang="en-US" altLang="en-US"/>
              <a:t>который</a:t>
            </a:r>
            <a:r>
              <a:rPr lang="en-US" altLang="ru-RU"/>
              <a:t> </a:t>
            </a:r>
            <a:r>
              <a:rPr lang="en-US" altLang="en-US"/>
              <a:t>расширяется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двух</a:t>
            </a:r>
            <a:r>
              <a:rPr lang="en-US" altLang="ru-RU"/>
              <a:t> </a:t>
            </a:r>
            <a:r>
              <a:rPr lang="en-US" altLang="en-US"/>
              <a:t>разных</a:t>
            </a:r>
            <a:r>
              <a:rPr lang="en-US" altLang="ru-RU"/>
              <a:t> </a:t>
            </a:r>
            <a:r>
              <a:rPr lang="en-US" altLang="en-US"/>
              <a:t>направлениях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Нужно</a:t>
            </a:r>
            <a:r>
              <a:rPr lang="en-US" altLang="ru-RU"/>
              <a:t> </a:t>
            </a:r>
            <a:r>
              <a:rPr lang="en-US" altLang="en-US"/>
              <a:t>менять</a:t>
            </a:r>
            <a:r>
              <a:rPr lang="en-US" altLang="ru-RU"/>
              <a:t> </a:t>
            </a:r>
            <a:r>
              <a:rPr lang="en-US" altLang="en-US"/>
              <a:t>реализацию</a:t>
            </a:r>
            <a:r>
              <a:rPr lang="en-US" altLang="ru-RU"/>
              <a:t> </a:t>
            </a:r>
            <a:r>
              <a:rPr lang="en-US" altLang="en-US"/>
              <a:t>во</a:t>
            </a:r>
            <a:r>
              <a:rPr lang="en-US" altLang="ru-RU"/>
              <a:t> </a:t>
            </a:r>
            <a:r>
              <a:rPr lang="en-US" altLang="en-US"/>
              <a:t>время</a:t>
            </a:r>
            <a:r>
              <a:rPr lang="en-US" altLang="ru-RU"/>
              <a:t> </a:t>
            </a:r>
            <a:r>
              <a:rPr lang="en-US" altLang="en-US"/>
              <a:t>выполнения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Кросс</a:t>
            </a:r>
            <a:r>
              <a:rPr lang="en-US" altLang="ru-RU"/>
              <a:t>-</a:t>
            </a:r>
            <a:r>
              <a:rPr lang="en-US" altLang="en-US"/>
              <a:t>платформенная</a:t>
            </a:r>
            <a:r>
              <a:rPr lang="en-US" altLang="ru-RU"/>
              <a:t> </a:t>
            </a:r>
            <a:r>
              <a:rPr lang="en-US" altLang="en-US"/>
              <a:t>поддержка</a:t>
            </a:r>
            <a:r>
              <a:rPr lang="en-US" altLang="ru-RU"/>
              <a:t>: </a:t>
            </a:r>
            <a:r>
              <a:rPr lang="en-US" altLang="en-US"/>
              <a:t>Когда</a:t>
            </a:r>
            <a:r>
              <a:rPr lang="en-US" altLang="ru-RU"/>
              <a:t> </a:t>
            </a:r>
            <a:r>
              <a:rPr lang="en-US" altLang="en-US"/>
              <a:t>интерфейс</a:t>
            </a:r>
            <a:r>
              <a:rPr lang="en-US" altLang="ru-RU"/>
              <a:t> </a:t>
            </a:r>
            <a:r>
              <a:rPr lang="en-US" altLang="en-US"/>
              <a:t>программы</a:t>
            </a:r>
            <a:r>
              <a:rPr lang="en-US" altLang="ru-RU"/>
              <a:t> </a:t>
            </a:r>
            <a:r>
              <a:rPr lang="en-US" altLang="en-US"/>
              <a:t>должен</a:t>
            </a:r>
            <a:r>
              <a:rPr lang="en-US" altLang="ru-RU"/>
              <a:t> </a:t>
            </a:r>
            <a:r>
              <a:rPr lang="en-US" altLang="en-US"/>
              <a:t>быть</a:t>
            </a:r>
            <a:r>
              <a:rPr lang="en-US" altLang="ru-RU"/>
              <a:t> </a:t>
            </a:r>
            <a:r>
              <a:rPr lang="en-US" altLang="en-US"/>
              <a:t>одинаковым</a:t>
            </a:r>
            <a:r>
              <a:rPr lang="en-US" altLang="ru-RU"/>
              <a:t>, </a:t>
            </a:r>
            <a:r>
              <a:rPr lang="en-US" altLang="en-US"/>
              <a:t>а</a:t>
            </a:r>
            <a:r>
              <a:rPr lang="en-US" altLang="ru-RU"/>
              <a:t> </a:t>
            </a:r>
            <a:r>
              <a:rPr lang="en-US" altLang="en-US"/>
              <a:t>низкоуровневый</a:t>
            </a:r>
            <a:r>
              <a:rPr lang="en-US" altLang="ru-RU"/>
              <a:t> </a:t>
            </a:r>
            <a:r>
              <a:rPr lang="en-US" altLang="en-US"/>
              <a:t>код</a:t>
            </a:r>
            <a:r>
              <a:rPr lang="en-US" altLang="ru-RU"/>
              <a:t> </a:t>
            </a:r>
            <a:r>
              <a:rPr lang="en-US" altLang="en-US"/>
              <a:t>зависит</a:t>
            </a:r>
            <a:r>
              <a:rPr lang="en-US" altLang="ru-RU"/>
              <a:t> </a:t>
            </a:r>
            <a:r>
              <a:rPr lang="en-US" altLang="en-US"/>
              <a:t>от</a:t>
            </a:r>
            <a:r>
              <a:rPr lang="en-US" altLang="ru-RU"/>
              <a:t> </a:t>
            </a:r>
            <a:r>
              <a:rPr lang="en-US" altLang="en-US"/>
              <a:t>конкретной</a:t>
            </a:r>
            <a:r>
              <a:rPr lang="en-US" altLang="ru-RU"/>
              <a:t> </a:t>
            </a:r>
            <a:r>
              <a:rPr lang="en-US" altLang="en-US"/>
              <a:t>платформы</a:t>
            </a:r>
            <a:r>
              <a:rPr lang="en-US" altLang="ru-RU"/>
              <a:t>.</a:t>
            </a:r>
            <a:endParaRPr lang="en-US" altLang="ru-RU"/>
          </a:p>
          <a:p>
            <a:pPr marL="0" indent="0">
              <a:buNone/>
            </a:pPr>
            <a:endParaRPr lang="en-US" alt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Реализация</a:t>
            </a:r>
            <a:r>
              <a:rPr lang="ru-RU" altLang="en-US"/>
              <a:t> моста</a:t>
            </a:r>
            <a:endParaRPr lang="ru-RU" altLang="en-US"/>
          </a:p>
        </p:txBody>
      </p:sp>
      <p:pic>
        <p:nvPicPr>
          <p:cNvPr id="6" name="Изображение 5"/>
          <p:cNvPicPr/>
          <p:nvPr/>
        </p:nvPicPr>
        <p:blipFill>
          <a:blip r:embed="rId1"/>
          <a:stretch>
            <a:fillRect/>
          </a:stretch>
        </p:blipFill>
        <p:spPr>
          <a:xfrm>
            <a:off x="5302885" y="1822133"/>
            <a:ext cx="6591300" cy="3571875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130" y="899160"/>
            <a:ext cx="4111625" cy="54190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1"/>
          <p:cNvSpPr>
            <a:spLocks noGrp="1"/>
          </p:cNvSpPr>
          <p:nvPr/>
        </p:nvSpPr>
        <p:spPr>
          <a:xfrm>
            <a:off x="736600" y="317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/>
            <a:r>
              <a:rPr lang="en-US" altLang="en-US">
                <a:sym typeface="+mn-ea"/>
              </a:rPr>
              <a:t>Плюсы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и</a:t>
            </a:r>
            <a:r>
              <a:rPr lang="en-US" altLang="ru-RU">
                <a:sym typeface="+mn-ea"/>
              </a:rPr>
              <a:t> </a:t>
            </a:r>
            <a:r>
              <a:rPr lang="en-US" altLang="en-US">
                <a:sym typeface="+mn-ea"/>
              </a:rPr>
              <a:t>минусы</a:t>
            </a:r>
            <a:endParaRPr lang="ru-RU" altLang="en-US"/>
          </a:p>
        </p:txBody>
      </p:sp>
      <p:sp>
        <p:nvSpPr>
          <p:cNvPr id="5" name="Скругленный прямоугольник 4"/>
          <p:cNvSpPr/>
          <p:nvPr>
            <p:custDataLst>
              <p:tags r:id="rId1"/>
            </p:custDataLst>
          </p:nvPr>
        </p:nvSpPr>
        <p:spPr>
          <a:xfrm>
            <a:off x="609600" y="1650365"/>
            <a:ext cx="5167630" cy="4070985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77800" dist="101600" dir="16320000" algn="l" rotWithShape="0">
              <a:srgbClr val="92D050">
                <a:alpha val="40000"/>
              </a:srgbClr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ru-RU" sz="900" b="0" i="0" u="none" strike="noStrike" cap="none" normalizeH="0" baseline="0" smtClean="0">
              <a:ln>
                <a:solidFill>
                  <a:schemeClr val="tx1"/>
                </a:solidFill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ru-RU" sz="900" b="0" i="0" u="none" strike="noStrike" cap="none" normalizeH="0" baseline="0" smtClean="0">
              <a:ln>
                <a:solidFill>
                  <a:schemeClr val="tx1"/>
                </a:solidFill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900" b="0" i="0" u="none" strike="noStrike" cap="none" normalizeH="0" baseline="0" smtClean="0">
              <a:ln>
                <a:solidFill>
                  <a:schemeClr val="tx1"/>
                </a:solidFill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" name="Скругленный прямоугольник 5"/>
          <p:cNvSpPr/>
          <p:nvPr>
            <p:custDataLst>
              <p:tags r:id="rId2"/>
            </p:custDataLst>
          </p:nvPr>
        </p:nvSpPr>
        <p:spPr>
          <a:xfrm>
            <a:off x="6414770" y="1650365"/>
            <a:ext cx="5167630" cy="4070985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77800" dist="101600" dir="16320000" algn="l" rotWithShape="0">
              <a:srgbClr val="FF3300">
                <a:alpha val="40000"/>
              </a:srgbClr>
            </a:outerShdw>
          </a:effectLst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solidFill>
                  <a:schemeClr val="tx1"/>
                </a:solidFill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" name="Текстовое поле 7"/>
          <p:cNvSpPr txBox="1"/>
          <p:nvPr>
            <p:custDataLst>
              <p:tags r:id="rId3"/>
            </p:custDataLst>
          </p:nvPr>
        </p:nvSpPr>
        <p:spPr>
          <a:xfrm>
            <a:off x="2274570" y="1715770"/>
            <a:ext cx="18376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2800">
                <a:sym typeface="+mn-ea"/>
              </a:rPr>
              <a:t>Плюсы</a:t>
            </a:r>
            <a:r>
              <a:rPr lang="en-US" altLang="ru-RU" sz="2800">
                <a:sym typeface="+mn-ea"/>
              </a:rPr>
              <a:t> </a:t>
            </a:r>
            <a:endParaRPr lang="en-US" altLang="ru-RU" sz="2800">
              <a:sym typeface="+mn-ea"/>
            </a:endParaRPr>
          </a:p>
        </p:txBody>
      </p:sp>
      <p:sp>
        <p:nvSpPr>
          <p:cNvPr id="11" name="Текстовое поле 10"/>
          <p:cNvSpPr txBox="1"/>
          <p:nvPr>
            <p:custDataLst>
              <p:tags r:id="rId4"/>
            </p:custDataLst>
          </p:nvPr>
        </p:nvSpPr>
        <p:spPr>
          <a:xfrm>
            <a:off x="8035925" y="1715770"/>
            <a:ext cx="18376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altLang="en-US" sz="2800">
                <a:sym typeface="+mn-ea"/>
              </a:rPr>
              <a:t>М</a:t>
            </a:r>
            <a:r>
              <a:rPr lang="en-US" altLang="en-US" sz="2800">
                <a:sym typeface="+mn-ea"/>
              </a:rPr>
              <a:t>инусы</a:t>
            </a:r>
            <a:endParaRPr lang="en-US" altLang="ru-RU" sz="2800" b="1">
              <a:sym typeface="+mn-ea"/>
            </a:endParaRPr>
          </a:p>
        </p:txBody>
      </p:sp>
      <p:sp>
        <p:nvSpPr>
          <p:cNvPr id="9" name="Текстовое поле 8"/>
          <p:cNvSpPr txBox="1"/>
          <p:nvPr>
            <p:custDataLst>
              <p:tags r:id="rId5"/>
            </p:custDataLst>
          </p:nvPr>
        </p:nvSpPr>
        <p:spPr>
          <a:xfrm>
            <a:off x="609600" y="2483485"/>
            <a:ext cx="4961255" cy="215836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 algn="just" fontAlgn="base">
              <a:spcBef>
                <a:spcPct val="20000"/>
              </a:spcBef>
              <a:buClrTx/>
              <a:buSzTx/>
              <a:buFontTx/>
              <a:buChar char="•"/>
            </a:pPr>
            <a:r>
              <a:rPr lang="en-US" altLang="en-US" sz="1600" b="1" i="0"/>
              <a:t>Независимость</a:t>
            </a:r>
            <a:r>
              <a:rPr lang="en-US" altLang="ru-RU" sz="1600" b="1" i="0"/>
              <a:t> </a:t>
            </a:r>
            <a:r>
              <a:rPr lang="en-US" altLang="en-US" sz="1600" b="1" i="0"/>
              <a:t>развития</a:t>
            </a:r>
            <a:r>
              <a:rPr lang="en-US" altLang="ru-RU" sz="1600" b="1" i="0"/>
              <a:t>. </a:t>
            </a:r>
            <a:r>
              <a:rPr lang="ru-RU" altLang="ru-RU" sz="1600" i="0"/>
              <a:t>Можно</a:t>
            </a:r>
            <a:r>
              <a:rPr lang="en-US" altLang="ru-RU" sz="1600" i="0"/>
              <a:t> </a:t>
            </a:r>
            <a:r>
              <a:rPr lang="en-US" altLang="en-US" sz="1600" b="0" i="0"/>
              <a:t>создавать</a:t>
            </a:r>
            <a:r>
              <a:rPr lang="en-US" altLang="ru-RU" sz="1600" b="0" i="0"/>
              <a:t> </a:t>
            </a:r>
            <a:r>
              <a:rPr lang="en-US" altLang="en-US" sz="1600" b="0" i="0"/>
              <a:t>новые</a:t>
            </a:r>
            <a:r>
              <a:rPr lang="en-US" altLang="ru-RU" sz="1600" b="0" i="0"/>
              <a:t> </a:t>
            </a:r>
            <a:r>
              <a:rPr lang="en-US" altLang="en-US" sz="1600" b="0" i="0"/>
              <a:t>виды</a:t>
            </a:r>
            <a:r>
              <a:rPr lang="en-US" altLang="ru-RU" sz="1600" b="0" i="0"/>
              <a:t> </a:t>
            </a:r>
            <a:r>
              <a:rPr lang="en-US" altLang="en-US" sz="1600" b="0" i="0"/>
              <a:t>пультов</a:t>
            </a:r>
            <a:r>
              <a:rPr lang="en-US" altLang="ru-RU" sz="1600" b="0" i="0"/>
              <a:t> </a:t>
            </a:r>
            <a:r>
              <a:rPr lang="en-US" altLang="en-US" sz="1600" b="0" i="0"/>
              <a:t>и</a:t>
            </a:r>
            <a:r>
              <a:rPr lang="en-US" altLang="ru-RU" sz="1600" b="0" i="0"/>
              <a:t> </a:t>
            </a:r>
            <a:r>
              <a:rPr lang="en-US" altLang="en-US" sz="1600" b="0" i="0"/>
              <a:t>новые</a:t>
            </a:r>
            <a:r>
              <a:rPr lang="en-US" altLang="ru-RU" sz="1600" b="0" i="0"/>
              <a:t> </a:t>
            </a:r>
            <a:r>
              <a:rPr lang="en-US" altLang="en-US" sz="1600" b="0" i="0"/>
              <a:t>виды</a:t>
            </a:r>
            <a:r>
              <a:rPr lang="en-US" altLang="ru-RU" sz="1600" b="0" i="0"/>
              <a:t> </a:t>
            </a:r>
            <a:r>
              <a:rPr lang="en-US" altLang="en-US" sz="1600" b="0" i="0"/>
              <a:t>устройств</a:t>
            </a:r>
            <a:r>
              <a:rPr lang="en-US" altLang="ru-RU" sz="1600" b="0" i="0"/>
              <a:t>, </a:t>
            </a:r>
            <a:r>
              <a:rPr lang="en-US" altLang="en-US" sz="1600" b="0" i="0"/>
              <a:t>не</a:t>
            </a:r>
            <a:r>
              <a:rPr lang="en-US" altLang="ru-RU" sz="1600" b="0" i="0"/>
              <a:t> </a:t>
            </a:r>
            <a:r>
              <a:rPr lang="en-US" altLang="en-US" sz="1600" b="0" i="0"/>
              <a:t>ломая</a:t>
            </a:r>
            <a:r>
              <a:rPr lang="en-US" altLang="ru-RU" sz="1600" b="0" i="0"/>
              <a:t> </a:t>
            </a:r>
            <a:r>
              <a:rPr lang="en-US" altLang="en-US" sz="1600" b="0" i="0"/>
              <a:t>код</a:t>
            </a:r>
            <a:r>
              <a:rPr lang="en-US" altLang="ru-RU" sz="1600" b="0" i="0"/>
              <a:t> </a:t>
            </a:r>
            <a:r>
              <a:rPr lang="en-US" altLang="en-US" sz="1600" b="0" i="0"/>
              <a:t>друг</a:t>
            </a:r>
            <a:r>
              <a:rPr lang="en-US" altLang="ru-RU" sz="1600" b="0" i="0"/>
              <a:t> </a:t>
            </a:r>
            <a:r>
              <a:rPr lang="en-US" altLang="en-US" sz="1600" b="0" i="0"/>
              <a:t>друга</a:t>
            </a:r>
            <a:r>
              <a:rPr lang="en-US" altLang="ru-RU" sz="1600" b="0" i="0"/>
              <a:t>.</a:t>
            </a:r>
            <a:endParaRPr lang="en-US" altLang="ru-RU" sz="1600" b="0" i="0"/>
          </a:p>
          <a:p>
            <a:pPr marL="342900" indent="-342900" algn="just" fontAlgn="base">
              <a:spcBef>
                <a:spcPct val="20000"/>
              </a:spcBef>
              <a:buClrTx/>
              <a:buSzTx/>
              <a:buFontTx/>
              <a:buChar char="•"/>
            </a:pPr>
            <a:r>
              <a:rPr lang="en-US" altLang="en-US" sz="1600" b="1" i="0"/>
              <a:t>Скрытие</a:t>
            </a:r>
            <a:r>
              <a:rPr lang="en-US" altLang="ru-RU" sz="1600" b="1" i="0"/>
              <a:t> </a:t>
            </a:r>
            <a:r>
              <a:rPr lang="en-US" altLang="en-US" sz="1600" b="1" i="0"/>
              <a:t>реализации</a:t>
            </a:r>
            <a:r>
              <a:rPr lang="en-US" altLang="ru-RU" sz="1600" b="1" i="0"/>
              <a:t>. </a:t>
            </a:r>
            <a:r>
              <a:rPr lang="en-US" altLang="en-US" sz="1600" b="0" i="0"/>
              <a:t>Клиент</a:t>
            </a:r>
            <a:r>
              <a:rPr lang="en-US" altLang="ru-RU" sz="1600" b="0" i="0"/>
              <a:t> </a:t>
            </a:r>
            <a:r>
              <a:rPr lang="en-US" altLang="en-US" sz="1600" b="0" i="0"/>
              <a:t>работает</a:t>
            </a:r>
            <a:r>
              <a:rPr lang="en-US" altLang="ru-RU" sz="1600" b="0" i="0"/>
              <a:t> </a:t>
            </a:r>
            <a:r>
              <a:rPr lang="en-US" altLang="en-US" sz="1600" b="0" i="0"/>
              <a:t>только</a:t>
            </a:r>
            <a:r>
              <a:rPr lang="en-US" altLang="ru-RU" sz="1600" b="0" i="0"/>
              <a:t> </a:t>
            </a:r>
            <a:r>
              <a:rPr lang="en-US" altLang="en-US" sz="1600" b="0" i="0"/>
              <a:t>с</a:t>
            </a:r>
            <a:r>
              <a:rPr lang="en-US" altLang="ru-RU" sz="1600" b="0" i="0"/>
              <a:t> </a:t>
            </a:r>
            <a:r>
              <a:rPr lang="en-US" altLang="en-US" sz="1600" b="0" i="0"/>
              <a:t>высокоуровневым</a:t>
            </a:r>
            <a:r>
              <a:rPr lang="en-US" altLang="ru-RU" sz="1600" b="0" i="0"/>
              <a:t> </a:t>
            </a:r>
            <a:r>
              <a:rPr lang="en-US" altLang="en-US" sz="1600" b="0" i="0"/>
              <a:t>интерфейсом</a:t>
            </a:r>
            <a:r>
              <a:rPr lang="en-US" altLang="ru-RU" sz="1600" b="0" i="0"/>
              <a:t> </a:t>
            </a:r>
            <a:r>
              <a:rPr lang="en-US" altLang="en-US" sz="1600" b="0" i="0"/>
              <a:t>абстракции</a:t>
            </a:r>
            <a:r>
              <a:rPr lang="en-US" altLang="ru-RU" sz="1600" b="0" i="0"/>
              <a:t>.</a:t>
            </a:r>
            <a:endParaRPr lang="en-US" altLang="ru-RU" sz="1600" b="0" i="0"/>
          </a:p>
          <a:p>
            <a:pPr marL="342900" indent="-342900" algn="just" fontAlgn="base">
              <a:spcBef>
                <a:spcPct val="20000"/>
              </a:spcBef>
              <a:buClrTx/>
              <a:buSzTx/>
              <a:buFontTx/>
              <a:buChar char="•"/>
            </a:pPr>
            <a:r>
              <a:rPr lang="en-US" altLang="en-US" sz="1600" b="1" i="0"/>
              <a:t>Соблюдение</a:t>
            </a:r>
            <a:r>
              <a:rPr lang="en-US" altLang="ru-RU" sz="1600" b="1" i="0"/>
              <a:t> SOLID.</a:t>
            </a:r>
            <a:r>
              <a:rPr lang="en-US" altLang="ru-RU" sz="1600" b="0" i="0"/>
              <a:t> </a:t>
            </a:r>
            <a:r>
              <a:rPr lang="en-US" altLang="en-US" sz="1600" b="0" i="0"/>
              <a:t>Легко</a:t>
            </a:r>
            <a:r>
              <a:rPr lang="en-US" altLang="ru-RU" sz="1600" b="0" i="0"/>
              <a:t> </a:t>
            </a:r>
            <a:r>
              <a:rPr lang="en-US" altLang="en-US" sz="1600" b="0" i="0"/>
              <a:t>добавлять</a:t>
            </a:r>
            <a:r>
              <a:rPr lang="en-US" altLang="ru-RU" sz="1600" b="0" i="0"/>
              <a:t> </a:t>
            </a:r>
            <a:r>
              <a:rPr lang="en-US" altLang="en-US" sz="1600" b="0" i="0"/>
              <a:t>новые</a:t>
            </a:r>
            <a:r>
              <a:rPr lang="en-US" altLang="ru-RU" sz="1600" b="0" i="0"/>
              <a:t> </a:t>
            </a:r>
            <a:r>
              <a:rPr lang="en-US" altLang="en-US" sz="1600" b="0" i="0"/>
              <a:t>реализации</a:t>
            </a:r>
            <a:r>
              <a:rPr lang="en-US" altLang="ru-RU" sz="1600" b="0" i="0"/>
              <a:t>, </a:t>
            </a:r>
            <a:r>
              <a:rPr lang="en-US" altLang="en-US" sz="1600" b="0" i="0"/>
              <a:t>не</a:t>
            </a:r>
            <a:r>
              <a:rPr lang="en-US" altLang="ru-RU" sz="1600" b="0" i="0"/>
              <a:t> </a:t>
            </a:r>
            <a:r>
              <a:rPr lang="en-US" altLang="en-US" sz="1600" b="0" i="0"/>
              <a:t>меняя</a:t>
            </a:r>
            <a:r>
              <a:rPr lang="en-US" altLang="ru-RU" sz="1600" b="0" i="0"/>
              <a:t> </a:t>
            </a:r>
            <a:r>
              <a:rPr lang="en-US" altLang="en-US" sz="1600" b="0" i="0"/>
              <a:t>существующие</a:t>
            </a:r>
            <a:r>
              <a:rPr lang="en-US" altLang="ru-RU" sz="1600" b="0" i="0"/>
              <a:t> </a:t>
            </a:r>
            <a:r>
              <a:rPr lang="en-US" altLang="en-US" sz="1600" b="0" i="0"/>
              <a:t>классы</a:t>
            </a:r>
            <a:r>
              <a:rPr lang="en-US" altLang="ru-RU" sz="1600" b="0" i="0"/>
              <a:t>.</a:t>
            </a:r>
            <a:endParaRPr lang="en-US" altLang="ru-RU" sz="1600" b="0" i="0"/>
          </a:p>
        </p:txBody>
      </p:sp>
      <p:sp>
        <p:nvSpPr>
          <p:cNvPr id="10" name="Текстовое поле 9"/>
          <p:cNvSpPr txBox="1"/>
          <p:nvPr>
            <p:custDataLst>
              <p:tags r:id="rId6"/>
            </p:custDataLst>
          </p:nvPr>
        </p:nvSpPr>
        <p:spPr>
          <a:xfrm>
            <a:off x="6474460" y="2610485"/>
            <a:ext cx="4961255" cy="161734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 algn="just" fontAlgn="base">
              <a:spcBef>
                <a:spcPct val="20000"/>
              </a:spcBef>
              <a:buClrTx/>
              <a:buSzTx/>
              <a:buFontTx/>
              <a:buChar char="•"/>
            </a:pPr>
            <a:r>
              <a:rPr lang="en-US" altLang="en-US" sz="1600" b="1" i="0"/>
              <a:t>Усложнение</a:t>
            </a:r>
            <a:r>
              <a:rPr lang="en-US" altLang="ru-RU" sz="1600" b="1" i="0"/>
              <a:t> </a:t>
            </a:r>
            <a:r>
              <a:rPr lang="en-US" altLang="en-US" sz="1600" b="1" i="0"/>
              <a:t>кода</a:t>
            </a:r>
            <a:r>
              <a:rPr lang="en-US" altLang="ru-RU" sz="1600" b="1" i="0"/>
              <a:t>.</a:t>
            </a:r>
            <a:r>
              <a:rPr lang="en-US" altLang="ru-RU" sz="1600" b="0" i="0"/>
              <a:t> </a:t>
            </a:r>
            <a:r>
              <a:rPr lang="en-US" altLang="en-US" sz="1600" b="0" i="0"/>
              <a:t>Для</a:t>
            </a:r>
            <a:r>
              <a:rPr lang="en-US" altLang="ru-RU" sz="1600" b="0" i="0"/>
              <a:t> </a:t>
            </a:r>
            <a:r>
              <a:rPr lang="en-US" altLang="en-US" sz="1600" b="0" i="0"/>
              <a:t>простых</a:t>
            </a:r>
            <a:r>
              <a:rPr lang="en-US" altLang="ru-RU" sz="1600" b="0" i="0"/>
              <a:t> </a:t>
            </a:r>
            <a:r>
              <a:rPr lang="en-US" altLang="en-US" sz="1600" b="0" i="0"/>
              <a:t>задач</a:t>
            </a:r>
            <a:r>
              <a:rPr lang="en-US" altLang="ru-RU" sz="1600" b="0" i="0"/>
              <a:t> </a:t>
            </a:r>
            <a:r>
              <a:rPr lang="en-US" altLang="en-US" sz="1600" b="0" i="0"/>
              <a:t>паттерн</a:t>
            </a:r>
            <a:r>
              <a:rPr lang="en-US" altLang="ru-RU" sz="1600" b="0" i="0"/>
              <a:t> </a:t>
            </a:r>
            <a:r>
              <a:rPr lang="en-US" altLang="en-US" sz="1600" b="0" i="0"/>
              <a:t>вводит</a:t>
            </a:r>
            <a:r>
              <a:rPr lang="en-US" altLang="ru-RU" sz="1600" b="0" i="0"/>
              <a:t> </a:t>
            </a:r>
            <a:r>
              <a:rPr lang="en-US" altLang="en-US" sz="1600" b="0" i="0"/>
              <a:t>много</a:t>
            </a:r>
            <a:r>
              <a:rPr lang="en-US" altLang="ru-RU" sz="1600" b="0" i="0"/>
              <a:t> </a:t>
            </a:r>
            <a:r>
              <a:rPr lang="en-US" altLang="en-US" sz="1600" b="0" i="0"/>
              <a:t>лишних</a:t>
            </a:r>
            <a:r>
              <a:rPr lang="en-US" altLang="ru-RU" sz="1600" b="0" i="0"/>
              <a:t> </a:t>
            </a:r>
            <a:r>
              <a:rPr lang="en-US" altLang="en-US" sz="1600" b="0" i="0"/>
              <a:t>классов</a:t>
            </a:r>
            <a:r>
              <a:rPr lang="en-US" altLang="ru-RU" sz="1600" b="0" i="0"/>
              <a:t> </a:t>
            </a:r>
            <a:r>
              <a:rPr lang="en-US" altLang="en-US" sz="1600" b="0" i="0"/>
              <a:t>и</a:t>
            </a:r>
            <a:r>
              <a:rPr lang="en-US" altLang="ru-RU" sz="1600" b="0" i="0"/>
              <a:t> </a:t>
            </a:r>
            <a:r>
              <a:rPr lang="en-US" altLang="en-US" sz="1600" b="0" i="0"/>
              <a:t>интерфейсов</a:t>
            </a:r>
            <a:r>
              <a:rPr lang="en-US" altLang="ru-RU" sz="1600" b="0" i="0"/>
              <a:t>.</a:t>
            </a:r>
            <a:endParaRPr lang="en-US" altLang="ru-RU" sz="1600" b="0" i="0"/>
          </a:p>
          <a:p>
            <a:pPr marL="342900" indent="-342900" algn="just" fontAlgn="base">
              <a:spcBef>
                <a:spcPct val="20000"/>
              </a:spcBef>
              <a:buClrTx/>
              <a:buSzTx/>
              <a:buFontTx/>
              <a:buChar char="•"/>
            </a:pPr>
            <a:r>
              <a:rPr lang="en-US" altLang="en-US" sz="1600" b="1" i="0"/>
              <a:t>Трудно</a:t>
            </a:r>
            <a:r>
              <a:rPr lang="en-US" altLang="ru-RU" sz="1600" b="1" i="0"/>
              <a:t> </a:t>
            </a:r>
            <a:r>
              <a:rPr lang="en-US" altLang="en-US" sz="1600" b="1" i="0"/>
              <a:t>понять</a:t>
            </a:r>
            <a:r>
              <a:rPr lang="en-US" altLang="ru-RU" sz="1600" b="1" i="0"/>
              <a:t>.</a:t>
            </a:r>
            <a:r>
              <a:rPr lang="en-US" altLang="ru-RU" sz="1600" b="0" i="0"/>
              <a:t> </a:t>
            </a:r>
            <a:r>
              <a:rPr lang="en-US" altLang="en-US" sz="1600" b="0" i="0"/>
              <a:t>Иногда</a:t>
            </a:r>
            <a:r>
              <a:rPr lang="en-US" altLang="ru-RU" sz="1600" b="0" i="0"/>
              <a:t> </a:t>
            </a:r>
            <a:r>
              <a:rPr lang="en-US" altLang="en-US" sz="1600" b="0" i="0"/>
              <a:t>трудно</a:t>
            </a:r>
            <a:r>
              <a:rPr lang="en-US" altLang="ru-RU" sz="1600" b="0" i="0"/>
              <a:t> </a:t>
            </a:r>
            <a:r>
              <a:rPr lang="en-US" altLang="en-US" sz="1600" b="0" i="0"/>
              <a:t>сразу</a:t>
            </a:r>
            <a:r>
              <a:rPr lang="en-US" altLang="ru-RU" sz="1600" b="0" i="0"/>
              <a:t> </a:t>
            </a:r>
            <a:r>
              <a:rPr lang="en-US" altLang="en-US" sz="1600" b="0" i="0"/>
              <a:t>понять</a:t>
            </a:r>
            <a:r>
              <a:rPr lang="en-US" altLang="ru-RU" sz="1600" b="0" i="0"/>
              <a:t>, </a:t>
            </a:r>
            <a:r>
              <a:rPr lang="en-US" altLang="en-US" sz="1600" b="0" i="0"/>
              <a:t>где</a:t>
            </a:r>
            <a:r>
              <a:rPr lang="en-US" altLang="ru-RU" sz="1600" b="0" i="0"/>
              <a:t> </a:t>
            </a:r>
            <a:r>
              <a:rPr lang="en-US" altLang="en-US" sz="1600" b="0" i="0"/>
              <a:t>заканчивается</a:t>
            </a:r>
            <a:r>
              <a:rPr lang="en-US" altLang="ru-RU" sz="1600" b="0" i="0"/>
              <a:t> </a:t>
            </a:r>
            <a:r>
              <a:rPr lang="en-US" altLang="en-US" sz="1600" b="0" i="0"/>
              <a:t>ответственность</a:t>
            </a:r>
            <a:r>
              <a:rPr lang="en-US" altLang="ru-RU" sz="1600" b="0" i="0"/>
              <a:t> </a:t>
            </a:r>
            <a:r>
              <a:rPr lang="en-US" altLang="en-US" sz="1600" b="0" i="0"/>
              <a:t>абстракции</a:t>
            </a:r>
            <a:r>
              <a:rPr lang="en-US" altLang="ru-RU" sz="1600" b="0" i="0"/>
              <a:t> </a:t>
            </a:r>
            <a:r>
              <a:rPr lang="en-US" altLang="en-US" sz="1600" b="0" i="0"/>
              <a:t>и</a:t>
            </a:r>
            <a:r>
              <a:rPr lang="en-US" altLang="ru-RU" sz="1600" b="0" i="0"/>
              <a:t> </a:t>
            </a:r>
            <a:r>
              <a:rPr lang="en-US" altLang="en-US" sz="1600" b="0" i="0"/>
              <a:t>начинается</a:t>
            </a:r>
            <a:r>
              <a:rPr lang="en-US" altLang="ru-RU" sz="1600" b="0" i="0"/>
              <a:t> </a:t>
            </a:r>
            <a:r>
              <a:rPr lang="en-US" altLang="en-US" sz="1600" b="0" i="0"/>
              <a:t>реализация</a:t>
            </a:r>
            <a:r>
              <a:rPr lang="en-US" altLang="ru-RU" sz="1600" b="0" i="0"/>
              <a:t>.</a:t>
            </a:r>
            <a:endParaRPr lang="en-US" altLang="ru-RU" sz="1600" b="0" i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/>
              <a:t>Вывод</a:t>
            </a:r>
            <a:endParaRPr lang="ru-RU" altLang="en-US"/>
          </a:p>
        </p:txBody>
      </p:sp>
      <p:sp>
        <p:nvSpPr>
          <p:cNvPr id="4" name="Замещающее содержимое 3"/>
          <p:cNvSpPr/>
          <p:nvPr>
            <p:ph idx="1"/>
          </p:nvPr>
        </p:nvSpPr>
        <p:spPr/>
        <p:txBody>
          <a:bodyPr/>
          <a:p>
            <a:endParaRPr lang="en-US" altLang="ru-RU"/>
          </a:p>
          <a:p>
            <a:pPr marL="0" indent="0" algn="just">
              <a:buNone/>
            </a:pPr>
            <a:r>
              <a:rPr lang="en-US" altLang="en-US"/>
              <a:t>Использование</a:t>
            </a:r>
            <a:r>
              <a:rPr lang="en-US" altLang="ru-RU"/>
              <a:t> </a:t>
            </a:r>
            <a:r>
              <a:rPr lang="en-US" altLang="en-US"/>
              <a:t>паттернов</a:t>
            </a:r>
            <a:r>
              <a:rPr lang="en-US" altLang="ru-RU"/>
              <a:t> </a:t>
            </a:r>
            <a:r>
              <a:rPr lang="en-US" altLang="en-US"/>
              <a:t>позволяет</a:t>
            </a:r>
            <a:r>
              <a:rPr lang="en-US" altLang="ru-RU"/>
              <a:t> </a:t>
            </a:r>
            <a:r>
              <a:rPr lang="en-US" altLang="en-US"/>
              <a:t>снизить</a:t>
            </a:r>
            <a:r>
              <a:rPr lang="en-US" altLang="ru-RU"/>
              <a:t> </a:t>
            </a:r>
            <a:r>
              <a:rPr lang="en-US" altLang="en-US"/>
              <a:t>связанность</a:t>
            </a:r>
            <a:r>
              <a:rPr lang="en-US" altLang="ru-RU"/>
              <a:t> </a:t>
            </a:r>
            <a:r>
              <a:rPr lang="en-US" altLang="en-US"/>
              <a:t>компонентов</a:t>
            </a:r>
            <a:r>
              <a:rPr lang="en-US" altLang="ru-RU"/>
              <a:t> </a:t>
            </a:r>
            <a:r>
              <a:rPr lang="en-US" altLang="en-US"/>
              <a:t>системы</a:t>
            </a:r>
            <a:r>
              <a:rPr lang="en-US" altLang="ru-RU"/>
              <a:t>, </a:t>
            </a:r>
            <a:r>
              <a:rPr lang="en-US" altLang="en-US"/>
              <a:t>обеспечивая</a:t>
            </a:r>
            <a:r>
              <a:rPr lang="en-US" altLang="ru-RU"/>
              <a:t> </a:t>
            </a:r>
            <a:r>
              <a:rPr lang="en-US" altLang="en-US"/>
              <a:t>их</a:t>
            </a:r>
            <a:r>
              <a:rPr lang="en-US" altLang="ru-RU"/>
              <a:t> </a:t>
            </a:r>
            <a:r>
              <a:rPr lang="en-US" altLang="en-US"/>
              <a:t>гибкое</a:t>
            </a:r>
            <a:r>
              <a:rPr lang="en-US" altLang="ru-RU"/>
              <a:t> </a:t>
            </a:r>
            <a:r>
              <a:rPr lang="en-US" altLang="en-US"/>
              <a:t>взаимодействие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независимое</a:t>
            </a:r>
            <a:r>
              <a:rPr lang="en-US" altLang="ru-RU"/>
              <a:t> </a:t>
            </a:r>
            <a:r>
              <a:rPr lang="en-US" altLang="en-US"/>
              <a:t>развитие</a:t>
            </a:r>
            <a:r>
              <a:rPr lang="en-US" altLang="ru-RU"/>
              <a:t> </a:t>
            </a:r>
            <a:r>
              <a:rPr lang="en-US" altLang="en-US"/>
              <a:t>каждой</a:t>
            </a:r>
            <a:r>
              <a:rPr lang="en-US" altLang="ru-RU"/>
              <a:t> </a:t>
            </a:r>
            <a:r>
              <a:rPr lang="en-US" altLang="en-US"/>
              <a:t>части</a:t>
            </a:r>
            <a:r>
              <a:rPr lang="en-US" altLang="ru-RU"/>
              <a:t> </a:t>
            </a:r>
            <a:r>
              <a:rPr lang="en-US" altLang="en-US"/>
              <a:t>кода</a:t>
            </a:r>
            <a:r>
              <a:rPr lang="en-US" altLang="ru-RU"/>
              <a:t>.</a:t>
            </a:r>
            <a:r>
              <a:rPr lang="ru-RU" altLang="en-US"/>
              <a:t> Что</a:t>
            </a:r>
            <a:r>
              <a:rPr lang="en-US" altLang="ru-RU"/>
              <a:t> </a:t>
            </a:r>
            <a:r>
              <a:rPr lang="en-US" altLang="en-US"/>
              <a:t>превращает</a:t>
            </a:r>
            <a:r>
              <a:rPr lang="en-US" altLang="ru-RU"/>
              <a:t> </a:t>
            </a:r>
            <a:r>
              <a:rPr lang="en-US" altLang="en-US"/>
              <a:t>жесткую</a:t>
            </a:r>
            <a:r>
              <a:rPr lang="en-US" altLang="ru-RU"/>
              <a:t> </a:t>
            </a:r>
            <a:r>
              <a:rPr lang="en-US" altLang="en-US"/>
              <a:t>архитектуру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масштабируемый</a:t>
            </a:r>
            <a:r>
              <a:rPr lang="en-US" altLang="ru-RU"/>
              <a:t> </a:t>
            </a:r>
            <a:r>
              <a:rPr lang="en-US" altLang="en-US"/>
              <a:t>конструктор</a:t>
            </a:r>
            <a:r>
              <a:rPr lang="en-US" altLang="ru-RU"/>
              <a:t>, </a:t>
            </a:r>
            <a:r>
              <a:rPr lang="en-US" altLang="en-US"/>
              <a:t>значительно</a:t>
            </a:r>
            <a:r>
              <a:rPr lang="en-US" altLang="ru-RU"/>
              <a:t> </a:t>
            </a:r>
            <a:r>
              <a:rPr lang="en-US" altLang="en-US"/>
              <a:t>упрощая</a:t>
            </a:r>
            <a:r>
              <a:rPr lang="en-US" altLang="ru-RU"/>
              <a:t> </a:t>
            </a:r>
            <a:r>
              <a:rPr lang="en-US" altLang="en-US"/>
              <a:t>поддержку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расширение</a:t>
            </a:r>
            <a:r>
              <a:rPr lang="en-US" altLang="ru-RU"/>
              <a:t> </a:t>
            </a:r>
            <a:r>
              <a:rPr lang="en-US" altLang="en-US"/>
              <a:t>программы</a:t>
            </a:r>
            <a:r>
              <a:rPr lang="en-US" altLang="ru-RU"/>
              <a:t> </a:t>
            </a:r>
            <a:r>
              <a:rPr lang="en-US" altLang="en-US"/>
              <a:t>при</a:t>
            </a:r>
            <a:r>
              <a:rPr lang="en-US" altLang="ru-RU"/>
              <a:t> </a:t>
            </a:r>
            <a:r>
              <a:rPr lang="en-US" altLang="en-US"/>
              <a:t>изменении</a:t>
            </a:r>
            <a:r>
              <a:rPr lang="en-US" altLang="ru-RU"/>
              <a:t> </a:t>
            </a:r>
            <a:r>
              <a:rPr lang="en-US" altLang="en-US"/>
              <a:t>требований</a:t>
            </a:r>
            <a:r>
              <a:rPr lang="en-US" altLang="ru-RU"/>
              <a:t> </a:t>
            </a:r>
            <a:r>
              <a:rPr lang="en-US" altLang="en-US"/>
              <a:t>или</a:t>
            </a:r>
            <a:r>
              <a:rPr lang="en-US" altLang="ru-RU"/>
              <a:t> </a:t>
            </a:r>
            <a:r>
              <a:rPr lang="en-US" altLang="en-US"/>
              <a:t>технологий</a:t>
            </a:r>
            <a:r>
              <a:rPr lang="en-US" altLang="ru-RU"/>
              <a:t>.</a:t>
            </a:r>
            <a:endParaRPr lang="en-US" altLang="ru-RU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0.55,&quot;left&quot;:48,&quot;top&quot;:129.95,&quot;width&quot;:864}"/>
</p:tagLst>
</file>

<file path=ppt/tags/tag2.xml><?xml version="1.0" encoding="utf-8"?>
<p:tagLst xmlns:p="http://schemas.openxmlformats.org/presentationml/2006/main">
  <p:tag name="KSO_WM_DIAGRAM_VIRTUALLY_FRAME" val="{&quot;height&quot;:320.55,&quot;left&quot;:48,&quot;top&quot;:129.95,&quot;width&quot;:864}"/>
</p:tagLst>
</file>

<file path=ppt/tags/tag3.xml><?xml version="1.0" encoding="utf-8"?>
<p:tagLst xmlns:p="http://schemas.openxmlformats.org/presentationml/2006/main">
  <p:tag name="KSO_WM_DIAGRAM_VIRTUALLY_FRAME" val="{&quot;height&quot;:320.55,&quot;left&quot;:48,&quot;top&quot;:129.95,&quot;width&quot;:864}"/>
</p:tagLst>
</file>

<file path=ppt/tags/tag4.xml><?xml version="1.0" encoding="utf-8"?>
<p:tagLst xmlns:p="http://schemas.openxmlformats.org/presentationml/2006/main">
  <p:tag name="KSO_WM_DIAGRAM_VIRTUALLY_FRAME" val="{&quot;height&quot;:320.55,&quot;left&quot;:48,&quot;top&quot;:129.95,&quot;width&quot;:864}"/>
</p:tagLst>
</file>

<file path=ppt/tags/tag5.xml><?xml version="1.0" encoding="utf-8"?>
<p:tagLst xmlns:p="http://schemas.openxmlformats.org/presentationml/2006/main">
  <p:tag name="KSO_WM_DIAGRAM_VIRTUALLY_FRAME" val="{&quot;height&quot;:320.55,&quot;left&quot;:48,&quot;top&quot;:129.95,&quot;width&quot;:864}"/>
</p:tagLst>
</file>

<file path=ppt/tags/tag6.xml><?xml version="1.0" encoding="utf-8"?>
<p:tagLst xmlns:p="http://schemas.openxmlformats.org/presentationml/2006/main">
  <p:tag name="KSO_WM_DIAGRAM_VIRTUALLY_FRAME" val="{&quot;height&quot;:320.55,&quot;left&quot;:48,&quot;top&quot;:129.95,&quot;width&quot;:864}"/>
</p:tagLst>
</file>

<file path=ppt/tags/tag7.xml><?xml version="1.0" encoding="utf-8"?>
<p:tagLst xmlns:p="http://schemas.openxmlformats.org/presentationml/2006/main">
  <p:tag name="KSO_WM_DIAGRAM_VIRTUALLY_FRAME" val="{&quot;height&quot;:371.25,&quot;left&quot;:48,&quot;top&quot;:129.95,&quot;width&quot;:864}"/>
</p:tagLst>
</file>

<file path=ppt/tags/tag8.xml><?xml version="1.0" encoding="utf-8"?>
<p:tagLst xmlns:p="http://schemas.openxmlformats.org/presentationml/2006/main">
  <p:tag name="KSO_WM_DIAGRAM_VIRTUALLY_FRAME" val="{&quot;height&quot;:371.25,&quot;left&quot;:48,&quot;top&quot;:129.95,&quot;width&quot;:864}"/>
</p:tagLst>
</file>

<file path=ppt/tags/tag9.xml><?xml version="1.0" encoding="utf-8"?>
<p:tagLst xmlns:p="http://schemas.openxmlformats.org/presentationml/2006/main">
  <p:tag name="KSO_WM_DIAGRAM_VIRTUALLY_FRAME" val="{&quot;height&quot;:371.25,&quot;left&quot;:48,&quot;top&quot;:129.95,&quot;width&quot;:864}"/>
</p:tagLst>
</file>

<file path=ppt/tags/tag10.xml><?xml version="1.0" encoding="utf-8"?>
<p:tagLst xmlns:p="http://schemas.openxmlformats.org/presentationml/2006/main">
  <p:tag name="KSO_WM_DIAGRAM_VIRTUALLY_FRAME" val="{&quot;height&quot;:371.25,&quot;left&quot;:48,&quot;top&quot;:129.95,&quot;width&quot;:864}"/>
</p:tagLst>
</file>

<file path=ppt/tags/tag11.xml><?xml version="1.0" encoding="utf-8"?>
<p:tagLst xmlns:p="http://schemas.openxmlformats.org/presentationml/2006/main">
  <p:tag name="KSO_WM_DIAGRAM_VIRTUALLY_FRAME" val="{&quot;height&quot;:371.25,&quot;left&quot;:48,&quot;top&quot;:129.95,&quot;width&quot;:864}"/>
</p:tagLst>
</file>

<file path=ppt/tags/tag12.xml><?xml version="1.0" encoding="utf-8"?>
<p:tagLst xmlns:p="http://schemas.openxmlformats.org/presentationml/2006/main">
  <p:tag name="KSO_WM_DIAGRAM_VIRTUALLY_FRAME" val="{&quot;height&quot;:371.25,&quot;left&quot;:48,&quot;top&quot;:129.95,&quot;width&quot;:864}"/>
</p:tagLst>
</file>

<file path=ppt/tags/tag13.xml><?xml version="1.0" encoding="utf-8"?>
<p:tagLst xmlns:p="http://schemas.openxmlformats.org/presentationml/2006/main">
  <p:tag name="KSO_WM_DIAGRAM_VIRTUALLY_FRAME" val="{&quot;height&quot;:371.25,&quot;left&quot;:48,&quot;top&quot;:129.95,&quot;width&quot;:864}"/>
</p:tagLst>
</file>

<file path=ppt/tags/tag14.xml><?xml version="1.0" encoding="utf-8"?>
<p:tagLst xmlns:p="http://schemas.openxmlformats.org/presentationml/2006/main">
  <p:tag name="KSO_WM_DIAGRAM_VIRTUALLY_FRAME" val="{&quot;height&quot;:371.25,&quot;left&quot;:48,&quot;top&quot;:129.95,&quot;width&quot;:864}"/>
</p:tagLst>
</file>

<file path=ppt/tags/tag15.xml><?xml version="1.0" encoding="utf-8"?>
<p:tagLst xmlns:p="http://schemas.openxmlformats.org/presentationml/2006/main">
  <p:tag name="KSO_WM_DIAGRAM_VIRTUALLY_FRAME" val="{&quot;height&quot;:371.25,&quot;left&quot;:48,&quot;top&quot;:129.95,&quot;width&quot;:864}"/>
</p:tagLst>
</file>

<file path=ppt/tags/tag16.xml><?xml version="1.0" encoding="utf-8"?>
<p:tagLst xmlns:p="http://schemas.openxmlformats.org/presentationml/2006/main">
  <p:tag name="KSO_WM_DIAGRAM_VIRTUALLY_FRAME" val="{&quot;height&quot;:371.25,&quot;left&quot;:48,&quot;top&quot;:129.95,&quot;width&quot;:864}"/>
</p:tagLst>
</file>

<file path=ppt/tags/tag17.xml><?xml version="1.0" encoding="utf-8"?>
<p:tagLst xmlns:p="http://schemas.openxmlformats.org/presentationml/2006/main">
  <p:tag name="KSO_WM_DIAGRAM_VIRTUALLY_FRAME" val="{&quot;height&quot;:371.25,&quot;left&quot;:48,&quot;top&quot;:129.95,&quot;width&quot;:864}"/>
</p:tagLst>
</file>

<file path=ppt/tags/tag18.xml><?xml version="1.0" encoding="utf-8"?>
<p:tagLst xmlns:p="http://schemas.openxmlformats.org/presentationml/2006/main">
  <p:tag name="KSO_WM_DIAGRAM_VIRTUALLY_FRAME" val="{&quot;height&quot;:371.25,&quot;left&quot;:48,&quot;top&quot;:129.95,&quot;width&quot;:864}"/>
</p:tagLst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4134</Words>
  <Application>WPS Presentation</Application>
  <PresentationFormat>宽屏</PresentationFormat>
  <Paragraphs>112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Arial</vt:lpstr>
      <vt:lpstr>SimSun</vt:lpstr>
      <vt:lpstr>Wingdings</vt:lpstr>
      <vt:lpstr>Microsoft YaHei</vt:lpstr>
      <vt:lpstr>Arial Unicode MS</vt:lpstr>
      <vt:lpstr>Gear Drives</vt:lpstr>
      <vt:lpstr>Паттерны проектирования</vt:lpstr>
      <vt:lpstr>Что такое паттерны?</vt:lpstr>
      <vt:lpstr> Виды паттернов </vt:lpstr>
      <vt:lpstr>Что такое Адаптер?</vt:lpstr>
      <vt:lpstr>Когда использовать?</vt:lpstr>
      <vt:lpstr>Реализация адаптера</vt:lpstr>
      <vt:lpstr>Плюсы и минусы</vt:lpstr>
      <vt:lpstr>Что такое Цепочка обязанностей?</vt:lpstr>
      <vt:lpstr>Когда использовать?</vt:lpstr>
      <vt:lpstr>Реализация цепочки обязанностей</vt:lpstr>
      <vt:lpstr>Плюсы и минусы</vt:lpstr>
      <vt:lpstr>Что такое Мост?</vt:lpstr>
      <vt:lpstr>Когда использовать?</vt:lpstr>
      <vt:lpstr>Реализация моста</vt:lpstr>
      <vt:lpstr>PowerPoint 演示文稿</vt:lpstr>
      <vt:lpstr>Вывод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bogod</cp:lastModifiedBy>
  <cp:revision>8</cp:revision>
  <dcterms:created xsi:type="dcterms:W3CDTF">2025-07-23T00:59:00Z</dcterms:created>
  <dcterms:modified xsi:type="dcterms:W3CDTF">2026-02-17T14:27:37Z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1049-12.2.0.23197</vt:lpwstr>
  </property>
  <property fmtid="{D5CDD505-2E9C-101B-9397-08002B2CF9AE}" pid="3" name="ICV">
    <vt:lpwstr>190E566BC1B74E3CBE0E2B95AA2C884E_13</vt:lpwstr>
  </property>
</Properties>
</file>